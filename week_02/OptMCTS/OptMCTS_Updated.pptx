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68" r:id="rId3"/>
    <p:sldId id="269" r:id="rId4"/>
    <p:sldId id="270" r:id="rId5"/>
    <p:sldId id="257" r:id="rId6"/>
    <p:sldId id="258" r:id="rId7"/>
    <p:sldId id="259" r:id="rId8"/>
    <p:sldId id="260" r:id="rId9"/>
    <p:sldId id="261" r:id="rId10"/>
    <p:sldId id="263" r:id="rId11"/>
    <p:sldId id="264" r:id="rId12"/>
    <p:sldId id="265" r:id="rId13"/>
    <p:sldId id="266" r:id="rId14"/>
    <p:sldId id="267" r:id="rId15"/>
    <p:sldId id="262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137"/>
    <p:restoredTop sz="94600"/>
  </p:normalViewPr>
  <p:slideViewPr>
    <p:cSldViewPr snapToGrid="0" snapToObjects="1">
      <p:cViewPr varScale="1">
        <p:scale>
          <a:sx n="156" d="100"/>
          <a:sy n="156" d="100"/>
        </p:scale>
        <p:origin x="200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456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411480" cy="5070348"/>
          </a:xfrm>
          <a:prstGeom prst="rect">
            <a:avLst/>
          </a:prstGeom>
          <a:solidFill>
            <a:srgbClr val="1B4F9C"/>
          </a:solidFill>
          <a:ln w="12700">
            <a:solidFill>
              <a:srgbClr val="1B4F9C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OptMCTS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of SolverLLM for Mathematical Optimization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MCTS-Guided LLM Formulation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926080"/>
            <a:ext cx="45720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" name="Text 5"/>
          <p:cNvSpPr/>
          <p:nvPr/>
        </p:nvSpPr>
        <p:spPr>
          <a:xfrm>
            <a:off x="640080" y="30632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 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SolverLLM (NeurIPS 2025) 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Datasets: 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benchmarks, 2,634 problems</a:t>
            </a:r>
            <a:b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r>
              <a:rPr lang="zh-CN" alt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： </a:t>
            </a:r>
            <a:r>
              <a:rPr lang="en-US" altLang="zh-CN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https://</a:t>
            </a:r>
            <a:r>
              <a:rPr lang="en-US" altLang="zh-CN" sz="13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neurips.cc</a:t>
            </a:r>
            <a:r>
              <a:rPr lang="en-US" altLang="zh-CN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/virtual/2025/loc/</a:t>
            </a:r>
            <a:r>
              <a:rPr lang="en-US" altLang="zh-CN" sz="13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san-diego</a:t>
            </a:r>
            <a:r>
              <a:rPr lang="en-US" altLang="zh-CN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/poster/116215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663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Report  </a:t>
            </a: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202</a:t>
            </a:r>
            <a:r>
              <a:rPr lang="en-US" altLang="zh-CN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132320" y="365760"/>
            <a:ext cx="2286000" cy="2286000"/>
          </a:xfrm>
          <a:prstGeom prst="ellipse">
            <a:avLst/>
          </a:prstGeom>
          <a:solidFill>
            <a:srgbClr val="1B4F9C">
              <a:alpha val="25000"/>
            </a:srgbClr>
          </a:solidFill>
          <a:ln w="12700">
            <a:solidFill>
              <a:srgbClr val="1B4F9C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" name="Shape 8"/>
          <p:cNvSpPr/>
          <p:nvPr/>
        </p:nvSpPr>
        <p:spPr>
          <a:xfrm>
            <a:off x="7589520" y="2011680"/>
            <a:ext cx="1645920" cy="1645920"/>
          </a:xfrm>
          <a:prstGeom prst="ellipse">
            <a:avLst/>
          </a:prstGeom>
          <a:solidFill>
            <a:srgbClr val="0E7C86">
              <a:alpha val="30000"/>
            </a:srgbClr>
          </a:solidFill>
          <a:ln w="12700">
            <a:solidFill>
              <a:srgbClr val="0E7C8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" name="Shape 9"/>
          <p:cNvSpPr/>
          <p:nvPr/>
        </p:nvSpPr>
        <p:spPr>
          <a:xfrm>
            <a:off x="6812280" y="3020529"/>
            <a:ext cx="1097280" cy="109728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blem and Motivation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1F3D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YellowBar"/>
          <p:cNvSpPr/>
          <p:nvPr/>
        </p:nvSpPr>
        <p:spPr>
          <a:xfrm>
            <a:off x="0" y="0"/>
            <a:ext cx="320040" cy="566928"/>
          </a:xfrm>
          <a:prstGeom prst="rect">
            <a:avLst/>
          </a:prstGeom>
          <a:solidFill>
            <a:srgbClr val="F59E0B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itleText"/>
          <p:cNvSpPr/>
          <p:nvPr/>
        </p:nvSpPr>
        <p:spPr>
          <a:xfrm>
            <a:off x="502920" y="0"/>
            <a:ext cx="754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PROBLEM &amp; MOTIVATION</a:t>
            </a:r>
          </a:p>
        </p:txBody>
      </p:sp>
      <p:sp>
        <p:nvSpPr>
          <p:cNvPr id="5" name="SlideNum"/>
          <p:cNvSpPr/>
          <p:nvPr/>
        </p:nvSpPr>
        <p:spPr>
          <a:xfrm>
            <a:off x="8046720" y="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DB5"/>
                </a:solidFill>
                <a:latin typeface="Calibri"/>
              </a:rPr>
              <a:t>Slide 02</a:t>
            </a:r>
          </a:p>
        </p:txBody>
      </p:sp>
      <p:sp>
        <p:nvSpPr>
          <p:cNvPr id="6" name="HeadLine"/>
          <p:cNvSpPr/>
          <p:nvPr/>
        </p:nvSpPr>
        <p:spPr>
          <a:xfrm>
            <a:off x="274320" y="700000"/>
            <a:ext cx="859536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F3D"/>
                </a:solidFill>
                <a:latin typeface="Calibri"/>
              </a:rPr>
              <a:t>Solving optimization problems with LLMs is hard.</a:t>
            </a:r>
          </a:p>
        </p:txBody>
      </p:sp>
      <p:sp>
        <p:nvSpPr>
          <p:cNvPr id="7" name="LeftBox"/>
          <p:cNvSpPr/>
          <p:nvPr/>
        </p:nvSpPr>
        <p:spPr>
          <a:xfrm>
            <a:off x="274320" y="1080000"/>
            <a:ext cx="4114800" cy="37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4F9C"/>
            </a:solidFill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LeftAccent"/>
          <p:cNvSpPr/>
          <p:nvPr/>
        </p:nvSpPr>
        <p:spPr>
          <a:xfrm>
            <a:off x="274320" y="1080000"/>
            <a:ext cx="54864" cy="3700000"/>
          </a:xfrm>
          <a:prstGeom prst="rect">
            <a:avLst/>
          </a:prstGeom>
          <a:solidFill>
            <a:srgbClr val="1B4F9C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LeftTitle"/>
          <p:cNvSpPr/>
          <p:nvPr/>
        </p:nvSpPr>
        <p:spPr>
          <a:xfrm>
            <a:off x="390000" y="1130000"/>
            <a:ext cx="39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9C"/>
                </a:solidFill>
                <a:latin typeface="Calibri"/>
              </a:rPr>
              <a:t>Traditional Sequential Pipeline</a:t>
            </a:r>
          </a:p>
        </p:txBody>
      </p:sp>
      <p:sp>
        <p:nvSpPr>
          <p:cNvPr id="10" name="PipelineLabel"/>
          <p:cNvSpPr/>
          <p:nvPr/>
        </p:nvSpPr>
        <p:spPr>
          <a:xfrm>
            <a:off x="390000" y="1400000"/>
            <a:ext cx="3900000" cy="260000"/>
          </a:xfrm>
          <a:prstGeom prst="rect">
            <a:avLst/>
          </a:prstGeom>
          <a:solidFill>
            <a:srgbClr val="EFF4FB"/>
          </a:solidFill>
          <a:ln w="9525">
            <a:solidFill>
              <a:srgbClr val="B0C8E8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F1F3D"/>
                </a:solidFill>
                <a:latin typeface="Calibri"/>
              </a:rPr>
              <a:t>Interpret → Formulate Math → Write Solver Code</a:t>
            </a:r>
          </a:p>
        </p:txBody>
      </p:sp>
      <p:sp>
        <p:nvSpPr>
          <p:cNvPr id="11" name="LeftBullets"/>
          <p:cNvSpPr/>
          <p:nvPr/>
        </p:nvSpPr>
        <p:spPr>
          <a:xfrm>
            <a:off x="390000" y="1720000"/>
            <a:ext cx="3900000" cy="9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2880" indent="-182880"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/>
              </a:rPr>
              <a:t>Sequential pipeline (Chain-of-Experts) commits to one formulation early</a:t>
            </a:r>
          </a:p>
          <a:p>
            <a:pPr marL="182880" indent="-182880"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/>
              </a:rPr>
              <a:t>If the formulation is wrong, the final answer is wrong — no chance to recover</a:t>
            </a:r>
          </a:p>
          <a:p>
            <a:pPr marL="182880" indent="-182880"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/>
              </a:rPr>
              <a:t>No exploration of alternative formulation strategies</a:t>
            </a:r>
          </a:p>
        </p:txBody>
      </p:sp>
      <p:sp>
        <p:nvSpPr>
          <p:cNvPr id="12" name="RightBox"/>
          <p:cNvSpPr/>
          <p:nvPr/>
        </p:nvSpPr>
        <p:spPr>
          <a:xfrm>
            <a:off x="4754880" y="1080000"/>
            <a:ext cx="4114800" cy="37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RightAccent"/>
          <p:cNvSpPr/>
          <p:nvPr/>
        </p:nvSpPr>
        <p:spPr>
          <a:xfrm>
            <a:off x="4754880" y="1080000"/>
            <a:ext cx="54864" cy="3700000"/>
          </a:xfrm>
          <a:prstGeom prst="rect">
            <a:avLst/>
          </a:prstGeom>
          <a:solidFill>
            <a:srgbClr val="F59E0B"/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RightTitle"/>
          <p:cNvSpPr/>
          <p:nvPr/>
        </p:nvSpPr>
        <p:spPr>
          <a:xfrm>
            <a:off x="4870000" y="1130000"/>
            <a:ext cx="39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/>
              </a:rPr>
              <a:t>Key Idea from SolverLLM</a:t>
            </a:r>
          </a:p>
        </p:txBody>
      </p:sp>
      <p:sp>
        <p:nvSpPr>
          <p:cNvPr id="15" name="KeyIdeaCallout"/>
          <p:cNvSpPr/>
          <p:nvPr/>
        </p:nvSpPr>
        <p:spPr>
          <a:xfrm>
            <a:off x="4870000" y="1400000"/>
            <a:ext cx="3900000" cy="300000"/>
          </a:xfrm>
          <a:prstGeom prst="rect">
            <a:avLst/>
          </a:prstGeom>
          <a:solidFill>
            <a:srgbClr val="FEF3C7"/>
          </a:solidFill>
          <a:ln w="9525">
            <a:solidFill>
              <a:srgbClr val="F59E0B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2400E"/>
                </a:solidFill>
                <a:latin typeface="Calibri"/>
              </a:rPr>
              <a:t>Use Monte Carlo Tree Search to explore multiple formulations and pick the best one</a:t>
            </a:r>
          </a:p>
        </p:txBody>
      </p:sp>
      <p:sp>
        <p:nvSpPr>
          <p:cNvPr id="16" name="MCTSBenefits"/>
          <p:cNvSpPr/>
          <p:nvPr/>
        </p:nvSpPr>
        <p:spPr>
          <a:xfrm>
            <a:off x="4870000" y="1770000"/>
            <a:ext cx="39000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2880" indent="-182880">
              <a:buChar char="✓"/>
            </a:pPr>
            <a:r>
              <a:rPr lang="en-US" sz="900" dirty="0">
                <a:solidFill>
                  <a:srgbClr val="16A34A"/>
                </a:solidFill>
                <a:latin typeface="Calibri"/>
              </a:rPr>
              <a:t>Decomposes formulation into 6 searchable layers</a:t>
            </a:r>
          </a:p>
          <a:p>
            <a:pPr marL="182880" indent="-182880">
              <a:buChar char="✓"/>
            </a:pPr>
            <a:r>
              <a:rPr lang="en-US" sz="900" dirty="0">
                <a:solidFill>
                  <a:srgbClr val="16A34A"/>
                </a:solidFill>
                <a:latin typeface="Calibri"/>
              </a:rPr>
              <a:t>Explores multiple alternative choices per layer</a:t>
            </a:r>
          </a:p>
          <a:p>
            <a:pPr marL="182880" indent="-182880">
              <a:buChar char="✓"/>
            </a:pPr>
            <a:r>
              <a:rPr lang="en-US" sz="900" dirty="0">
                <a:solidFill>
                  <a:srgbClr val="16A34A"/>
                </a:solidFill>
                <a:latin typeface="Calibri"/>
              </a:rPr>
              <a:t>Exploits feedback to refine promising paths</a:t>
            </a:r>
          </a:p>
          <a:p>
            <a:pPr marL="182880" indent="-182880">
              <a:buChar char="✓"/>
            </a:pPr>
            <a:r>
              <a:rPr lang="en-US" sz="900" dirty="0">
                <a:solidFill>
                  <a:srgbClr val="16A34A"/>
                </a:solidFill>
                <a:latin typeface="Calibri"/>
              </a:rPr>
              <a:t>Can revise earlier decisions when errors are detected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ject Overview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1F3D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alBar"/>
          <p:cNvSpPr/>
          <p:nvPr/>
        </p:nvSpPr>
        <p:spPr>
          <a:xfrm>
            <a:off x="0" y="0"/>
            <a:ext cx="320040" cy="566928"/>
          </a:xfrm>
          <a:prstGeom prst="rect">
            <a:avLst/>
          </a:prstGeom>
          <a:solidFill>
            <a:srgbClr val="0E7C86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itleText"/>
          <p:cNvSpPr/>
          <p:nvPr/>
        </p:nvSpPr>
        <p:spPr>
          <a:xfrm>
            <a:off x="502920" y="0"/>
            <a:ext cx="754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PROJECT OVERVIEW</a:t>
            </a:r>
          </a:p>
        </p:txBody>
      </p:sp>
      <p:sp>
        <p:nvSpPr>
          <p:cNvPr id="5" name="SlideNum"/>
          <p:cNvSpPr/>
          <p:nvPr/>
        </p:nvSpPr>
        <p:spPr>
          <a:xfrm>
            <a:off x="8046720" y="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DB5"/>
                </a:solidFill>
                <a:latin typeface="Calibri"/>
              </a:rPr>
              <a:t>Slide 03</a:t>
            </a:r>
          </a:p>
        </p:txBody>
      </p:sp>
      <p:sp>
        <p:nvSpPr>
          <p:cNvPr id="6" name="Stat1Box"/>
          <p:cNvSpPr/>
          <p:nvPr/>
        </p:nvSpPr>
        <p:spPr>
          <a:xfrm>
            <a:off x="274320" y="720000"/>
            <a:ext cx="2742240" cy="700000"/>
          </a:xfrm>
          <a:prstGeom prst="rect">
            <a:avLst/>
          </a:prstGeom>
          <a:solidFill>
            <a:srgbClr val="1B4F9C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tat1Text"/>
          <p:cNvSpPr/>
          <p:nvPr/>
        </p:nvSpPr>
        <p:spPr>
          <a:xfrm>
            <a:off x="274320" y="720000"/>
            <a:ext cx="2742240" cy="7000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/>
              </a:rPr>
              <a:t>2</a:t>
            </a:r>
          </a:p>
          <a:p>
            <a:pPr algn="ctr">
              <a:buNone/>
            </a:pPr>
            <a:r>
              <a:rPr lang="en-US" sz="900" dirty="0">
                <a:solidFill>
                  <a:srgbClr val="B0C8E8"/>
                </a:solidFill>
                <a:latin typeface="Calibri"/>
              </a:rPr>
              <a:t>Implementation Parts</a:t>
            </a:r>
          </a:p>
        </p:txBody>
      </p:sp>
      <p:sp>
        <p:nvSpPr>
          <p:cNvPr id="8" name="Stat2Box"/>
          <p:cNvSpPr/>
          <p:nvPr/>
        </p:nvSpPr>
        <p:spPr>
          <a:xfrm>
            <a:off x="3199680" y="720000"/>
            <a:ext cx="2742240" cy="700000"/>
          </a:xfrm>
          <a:prstGeom prst="rect">
            <a:avLst/>
          </a:prstGeom>
          <a:solidFill>
            <a:srgbClr val="0E7C86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tat2Text"/>
          <p:cNvSpPr/>
          <p:nvPr/>
        </p:nvSpPr>
        <p:spPr>
          <a:xfrm>
            <a:off x="3199680" y="720000"/>
            <a:ext cx="2742240" cy="7000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/>
              </a:rPr>
              <a:t>9</a:t>
            </a:r>
          </a:p>
          <a:p>
            <a:pPr algn="ctr">
              <a:buNone/>
            </a:pPr>
            <a:r>
              <a:rPr lang="en-US" sz="900" dirty="0">
                <a:solidFill>
                  <a:srgbClr val="A7D8DC"/>
                </a:solidFill>
                <a:latin typeface="Calibri"/>
              </a:rPr>
              <a:t>Benchmark Datasets</a:t>
            </a:r>
          </a:p>
        </p:txBody>
      </p:sp>
      <p:sp>
        <p:nvSpPr>
          <p:cNvPr id="10" name="Stat3Box"/>
          <p:cNvSpPr/>
          <p:nvPr/>
        </p:nvSpPr>
        <p:spPr>
          <a:xfrm>
            <a:off x="6127440" y="720000"/>
            <a:ext cx="2742240" cy="700000"/>
          </a:xfrm>
          <a:prstGeom prst="rect">
            <a:avLst/>
          </a:prstGeom>
          <a:solidFill>
            <a:srgbClr val="7C3AED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tat3Text"/>
          <p:cNvSpPr/>
          <p:nvPr/>
        </p:nvSpPr>
        <p:spPr>
          <a:xfrm>
            <a:off x="6127440" y="720000"/>
            <a:ext cx="2742240" cy="7000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/>
              </a:rPr>
              <a:t>2,634</a:t>
            </a:r>
          </a:p>
          <a:p>
            <a:pPr algn="ctr">
              <a:buNone/>
            </a:pPr>
            <a:r>
              <a:rPr lang="en-US" sz="900" dirty="0">
                <a:solidFill>
                  <a:srgbClr val="C4B5FD"/>
                </a:solidFill>
                <a:latin typeface="Calibri"/>
              </a:rPr>
              <a:t>Problems Total</a:t>
            </a:r>
          </a:p>
        </p:txBody>
      </p:sp>
      <p:sp>
        <p:nvSpPr>
          <p:cNvPr id="12" name="Part1Box"/>
          <p:cNvSpPr/>
          <p:nvPr/>
        </p:nvSpPr>
        <p:spPr>
          <a:xfrm>
            <a:off x="274320" y="1570000"/>
            <a:ext cx="4114800" cy="19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4F9C"/>
            </a:solidFill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Part1Accent"/>
          <p:cNvSpPr/>
          <p:nvPr/>
        </p:nvSpPr>
        <p:spPr>
          <a:xfrm>
            <a:off x="274320" y="1570000"/>
            <a:ext cx="54864" cy="1900000"/>
          </a:xfrm>
          <a:prstGeom prst="rect">
            <a:avLst/>
          </a:prstGeom>
          <a:solidFill>
            <a:srgbClr val="1B4F9C"/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Part1Content"/>
          <p:cNvSpPr/>
          <p:nvPr/>
        </p:nvSpPr>
        <p:spPr>
          <a:xfrm>
            <a:off x="390000" y="1600000"/>
            <a:ext cx="3900000" cy="1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B4F9C"/>
                </a:solidFill>
                <a:latin typeface="Calibri"/>
              </a:rPr>
              <a:t>Part 1 — CoE Baseline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/>
              </a:rPr>
              <a:t>Sequential 3-stage LLM pipeline</a:t>
            </a:r>
          </a:p>
          <a:p>
            <a:pPr marL="182880" indent="-182880"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/>
              </a:rPr>
              <a:t>Interpret → Formulate → Code → Execute</a:t>
            </a:r>
          </a:p>
          <a:p>
            <a:pPr marL="182880" indent="-182880"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/>
              </a:rPr>
              <a:t>Each stage is a single LLM call (GPT-4o-mini)</a:t>
            </a:r>
          </a:p>
          <a:p>
            <a:pPr marL="182880" indent="-182880"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/>
              </a:rPr>
              <a:t>Code generation uses scipy/PuLP</a:t>
            </a:r>
          </a:p>
          <a:p>
            <a:pPr marL="182880" indent="-182880"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/>
              </a:rPr>
              <a:t>Up to 3 retries if code fails to execute</a:t>
            </a:r>
          </a:p>
        </p:txBody>
      </p:sp>
      <p:sp>
        <p:nvSpPr>
          <p:cNvPr id="15" name="Part2Box"/>
          <p:cNvSpPr/>
          <p:nvPr/>
        </p:nvSpPr>
        <p:spPr>
          <a:xfrm>
            <a:off x="4754880" y="1570000"/>
            <a:ext cx="4114800" cy="19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Part2Accent"/>
          <p:cNvSpPr/>
          <p:nvPr/>
        </p:nvSpPr>
        <p:spPr>
          <a:xfrm>
            <a:off x="4754880" y="1570000"/>
            <a:ext cx="54864" cy="1900000"/>
          </a:xfrm>
          <a:prstGeom prst="rect">
            <a:avLst/>
          </a:prstGeom>
          <a:solidFill>
            <a:srgbClr val="7C3AED"/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Part2Content"/>
          <p:cNvSpPr/>
          <p:nvPr/>
        </p:nvSpPr>
        <p:spPr>
          <a:xfrm>
            <a:off x="4870000" y="1600000"/>
            <a:ext cx="3900000" cy="1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/>
              </a:rPr>
              <a:t>Part 2 — OptMCTS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/>
              </a:rPr>
              <a:t>Full MCTS over the formulation space</a:t>
            </a:r>
          </a:p>
          <a:p>
            <a:pPr marL="182880" indent="-182880"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/>
              </a:rPr>
              <a:t>Three key innovations from the paper</a:t>
            </a:r>
          </a:p>
          <a:p>
            <a:pPr marL="182880" indent="-182880"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/>
              </a:rPr>
              <a:t>Dynamic expansion, prompt backpropagation, uncertainty weighting</a:t>
            </a:r>
          </a:p>
          <a:p>
            <a:pPr marL="182880" indent="-182880"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/>
              </a:rPr>
              <a:t>20 MCTS iterations per problem</a:t>
            </a:r>
          </a:p>
        </p:txBody>
      </p:sp>
      <p:sp>
        <p:nvSpPr>
          <p:cNvPr id="18" name="ImplBox"/>
          <p:cNvSpPr/>
          <p:nvPr/>
        </p:nvSpPr>
        <p:spPr>
          <a:xfrm>
            <a:off x="274320" y="3620000"/>
            <a:ext cx="8595360" cy="700000"/>
          </a:xfrm>
          <a:prstGeom prst="rect">
            <a:avLst/>
          </a:prstGeom>
          <a:solidFill>
            <a:srgbClr val="D6E4F7"/>
          </a:solidFill>
          <a:ln w="12700">
            <a:solidFill>
              <a:srgbClr val="1B4F9C"/>
            </a:solidFill>
          </a:ln>
        </p:spPr>
        <p:txBody>
          <a:bodyPr wrap="square" lIns="182880" tIns="91440" rIns="182880" bIns="9144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F3D"/>
                </a:solidFill>
                <a:latin typeface="Calibri"/>
              </a:rPr>
              <a:t>Implementation:  </a:t>
            </a:r>
            <a:r>
              <a:rPr lang="en-US" sz="900" dirty="0">
                <a:solidFill>
                  <a:srgbClr val="0F1F3D"/>
                </a:solidFill>
                <a:latin typeface="Calibri"/>
              </a:rPr>
              <a:t>~1,300 lines of Python, modular architecture    |    Resume-safe SQLite storage    |    CoE and MCTS results stored in separate tables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E Baseline Detail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1F3D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BlueBar"/>
          <p:cNvSpPr/>
          <p:nvPr/>
        </p:nvSpPr>
        <p:spPr>
          <a:xfrm>
            <a:off x="0" y="0"/>
            <a:ext cx="320040" cy="566928"/>
          </a:xfrm>
          <a:prstGeom prst="rect">
            <a:avLst/>
          </a:prstGeom>
          <a:solidFill>
            <a:srgbClr val="1B4F9C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itleText"/>
          <p:cNvSpPr/>
          <p:nvPr/>
        </p:nvSpPr>
        <p:spPr>
          <a:xfrm>
            <a:off x="502920" y="0"/>
            <a:ext cx="754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CHAIN-OF-EXPERTS BASELINE</a:t>
            </a:r>
          </a:p>
        </p:txBody>
      </p:sp>
      <p:sp>
        <p:nvSpPr>
          <p:cNvPr id="5" name="SlideNum"/>
          <p:cNvSpPr/>
          <p:nvPr/>
        </p:nvSpPr>
        <p:spPr>
          <a:xfrm>
            <a:off x="8046720" y="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DB5"/>
                </a:solidFill>
                <a:latin typeface="Calibri"/>
              </a:rPr>
              <a:t>Slide 04</a:t>
            </a:r>
          </a:p>
        </p:txBody>
      </p:sp>
      <p:sp>
        <p:nvSpPr>
          <p:cNvPr id="6" name="Subtitle"/>
          <p:cNvSpPr/>
          <p:nvPr/>
        </p:nvSpPr>
        <p:spPr>
          <a:xfrm>
            <a:off x="274320" y="680000"/>
            <a:ext cx="859536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/>
              </a:rPr>
              <a:t>Simple sequential pipeline — serves as our baseline for comparison</a:t>
            </a:r>
          </a:p>
        </p:txBody>
      </p:sp>
      <p:sp>
        <p:nvSpPr>
          <p:cNvPr id="7" name="Step1"/>
          <p:cNvSpPr/>
          <p:nvPr/>
        </p:nvSpPr>
        <p:spPr>
          <a:xfrm>
            <a:off x="274320" y="1060000"/>
            <a:ext cx="1440000" cy="360000"/>
          </a:xfrm>
          <a:prstGeom prst="rect">
            <a:avLst/>
          </a:prstGeom>
          <a:solidFill>
            <a:srgbClr val="1B4F9C"/>
          </a:solidFill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Problem Text</a:t>
            </a:r>
          </a:p>
        </p:txBody>
      </p:sp>
      <p:sp>
        <p:nvSpPr>
          <p:cNvPr id="8" name="Arrow1"/>
          <p:cNvSpPr/>
          <p:nvPr/>
        </p:nvSpPr>
        <p:spPr>
          <a:xfrm>
            <a:off x="1714320" y="1190000"/>
            <a:ext cx="400000" cy="0"/>
          </a:xfrm>
          <a:prstGeom prst="line">
            <a:avLst/>
          </a:prstGeom>
          <a:noFill/>
          <a:ln w="25400">
            <a:solidFill>
              <a:srgbClr val="1B4F9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Step2"/>
          <p:cNvSpPr/>
          <p:nvPr/>
        </p:nvSpPr>
        <p:spPr>
          <a:xfrm>
            <a:off x="2114320" y="1060000"/>
            <a:ext cx="1440000" cy="360000"/>
          </a:xfrm>
          <a:prstGeom prst="rect">
            <a:avLst/>
          </a:prstGeom>
          <a:solidFill>
            <a:srgbClr val="1B4F9C"/>
          </a:solidFill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Interpretation</a:t>
            </a:r>
          </a:p>
        </p:txBody>
      </p:sp>
      <p:sp>
        <p:nvSpPr>
          <p:cNvPr id="10" name="Arrow2"/>
          <p:cNvSpPr/>
          <p:nvPr/>
        </p:nvSpPr>
        <p:spPr>
          <a:xfrm>
            <a:off x="3554320" y="1190000"/>
            <a:ext cx="400000" cy="0"/>
          </a:xfrm>
          <a:prstGeom prst="line">
            <a:avLst/>
          </a:prstGeom>
          <a:noFill/>
          <a:ln w="25400">
            <a:solidFill>
              <a:srgbClr val="0E7C8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Step3"/>
          <p:cNvSpPr/>
          <p:nvPr/>
        </p:nvSpPr>
        <p:spPr>
          <a:xfrm>
            <a:off x="3954320" y="1060000"/>
            <a:ext cx="1440000" cy="360000"/>
          </a:xfrm>
          <a:prstGeom prst="rect">
            <a:avLst/>
          </a:prstGeom>
          <a:solidFill>
            <a:srgbClr val="0E7C86"/>
          </a:solidFill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Formulation</a:t>
            </a:r>
          </a:p>
        </p:txBody>
      </p:sp>
      <p:sp>
        <p:nvSpPr>
          <p:cNvPr id="12" name="Arrow3"/>
          <p:cNvSpPr/>
          <p:nvPr/>
        </p:nvSpPr>
        <p:spPr>
          <a:xfrm>
            <a:off x="5394320" y="1190000"/>
            <a:ext cx="400000" cy="0"/>
          </a:xfrm>
          <a:prstGeom prst="line">
            <a:avLst/>
          </a:prstGeom>
          <a:noFill/>
          <a:ln w="25400">
            <a:solidFill>
              <a:srgbClr val="7C3AE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Step4"/>
          <p:cNvSpPr/>
          <p:nvPr/>
        </p:nvSpPr>
        <p:spPr>
          <a:xfrm>
            <a:off x="5794320" y="1060000"/>
            <a:ext cx="1440000" cy="360000"/>
          </a:xfrm>
          <a:prstGeom prst="rect">
            <a:avLst/>
          </a:prstGeom>
          <a:solidFill>
            <a:srgbClr val="7C3AED"/>
          </a:solidFill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Code Generation</a:t>
            </a:r>
          </a:p>
        </p:txBody>
      </p:sp>
      <p:sp>
        <p:nvSpPr>
          <p:cNvPr id="14" name="Arrow4"/>
          <p:cNvSpPr/>
          <p:nvPr/>
        </p:nvSpPr>
        <p:spPr>
          <a:xfrm>
            <a:off x="7234320" y="1190000"/>
            <a:ext cx="400000" cy="0"/>
          </a:xfrm>
          <a:prstGeom prst="line">
            <a:avLst/>
          </a:prstGeom>
          <a:noFill/>
          <a:ln w="25400">
            <a:solidFill>
              <a:srgbClr val="16A34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Step5"/>
          <p:cNvSpPr/>
          <p:nvPr/>
        </p:nvSpPr>
        <p:spPr>
          <a:xfrm>
            <a:off x="7634320" y="1060000"/>
            <a:ext cx="1200000" cy="360000"/>
          </a:xfrm>
          <a:prstGeom prst="rect">
            <a:avLst/>
          </a:prstGeom>
          <a:solidFill>
            <a:srgbClr val="16A34A"/>
          </a:solidFill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Execute</a:t>
            </a:r>
          </a:p>
        </p:txBody>
      </p:sp>
      <p:sp>
        <p:nvSpPr>
          <p:cNvPr id="16" name="Card1"/>
          <p:cNvSpPr/>
          <p:nvPr/>
        </p:nvSpPr>
        <p:spPr>
          <a:xfrm>
            <a:off x="274320" y="1660000"/>
            <a:ext cx="2050000" cy="19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4F9C"/>
            </a:solidFill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B4F9C"/>
                </a:solidFill>
                <a:latin typeface="Calibri"/>
              </a:rPr>
              <a:t>LLM Model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/>
              </a:rPr>
              <a:t>GPT-4o-mini for all 3 stages (interpret, formulate, code)</a:t>
            </a:r>
          </a:p>
        </p:txBody>
      </p:sp>
      <p:sp>
        <p:nvSpPr>
          <p:cNvPr id="17" name="Card2"/>
          <p:cNvSpPr/>
          <p:nvPr/>
        </p:nvSpPr>
        <p:spPr>
          <a:xfrm>
            <a:off x="2470000" y="1660000"/>
            <a:ext cx="2050000" cy="19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86"/>
            </a:solidFill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E7C86"/>
                </a:solidFill>
                <a:latin typeface="Calibri"/>
              </a:rPr>
              <a:t>Code Generation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/>
              </a:rPr>
              <a:t>Uses scipy/PuLP for solver code generation</a:t>
            </a:r>
          </a:p>
        </p:txBody>
      </p:sp>
      <p:sp>
        <p:nvSpPr>
          <p:cNvPr id="18" name="Card3"/>
          <p:cNvSpPr/>
          <p:nvPr/>
        </p:nvSpPr>
        <p:spPr>
          <a:xfrm>
            <a:off x="4668000" y="1660000"/>
            <a:ext cx="2050000" cy="19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Calibri"/>
              </a:rPr>
              <a:t>Error Handling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/>
              </a:rPr>
              <a:t>Up to 3 retries if code fails to execute (auto-debug loop)</a:t>
            </a:r>
          </a:p>
        </p:txBody>
      </p:sp>
      <p:sp>
        <p:nvSpPr>
          <p:cNvPr id="19" name="Card4"/>
          <p:cNvSpPr/>
          <p:nvPr/>
        </p:nvSpPr>
        <p:spPr>
          <a:xfrm>
            <a:off x="6866000" y="1660000"/>
            <a:ext cx="2050000" cy="19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/>
              </a:rPr>
              <a:t>Limitation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/>
              </a:rPr>
              <a:t>One-shot formulation — no exploration of alternatives. Wrong early decision = wrong answer</a:t>
            </a:r>
          </a:p>
        </p:txBody>
      </p:sp>
      <p:sp>
        <p:nvSpPr>
          <p:cNvPr id="20" name="BottomInfo"/>
          <p:cNvSpPr/>
          <p:nvPr/>
        </p:nvSpPr>
        <p:spPr>
          <a:xfrm>
            <a:off x="274320" y="3760000"/>
            <a:ext cx="8595360" cy="530000"/>
          </a:xfrm>
          <a:prstGeom prst="rect">
            <a:avLst/>
          </a:prstGeom>
          <a:solidFill>
            <a:srgbClr val="D6E4F7"/>
          </a:solidFill>
          <a:ln w="12700">
            <a:solidFill>
              <a:srgbClr val="1B4F9C"/>
            </a:solidFill>
          </a:ln>
        </p:spPr>
        <p:txBody>
          <a:bodyPr wrap="square" lIns="182880" tIns="91440" rIns="182880" bIns="9144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F3D"/>
                </a:solidFill>
                <a:latin typeface="Calibri"/>
              </a:rPr>
              <a:t>CoE uses only 4–7 LLM calls per problem vs. 50–100+ for MCTS.  </a:t>
            </a:r>
            <a:r>
              <a:rPr lang="en-US" sz="900" dirty="0">
                <a:solidFill>
                  <a:srgbClr val="1E293B"/>
                </a:solidFill>
                <a:latin typeface="Calibri"/>
              </a:rPr>
              <a:t>Serves as the efficiency baseline for measuring MCTS accuracy gains.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" name="Text 2"/>
          <p:cNvSpPr/>
          <p:nvPr/>
        </p:nvSpPr>
        <p:spPr>
          <a:xfrm>
            <a:off x="502920" y="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Structure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115568"/>
            <a:ext cx="3657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0F1F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8" name="Shape 6"/>
          <p:cNvSpPr/>
          <p:nvPr/>
        </p:nvSpPr>
        <p:spPr>
          <a:xfrm>
            <a:off x="274320" y="1115568"/>
            <a:ext cx="54864" cy="34747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384048" y="113385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1289304"/>
            <a:ext cx="3493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· CLI · DB I/O · Problem Loop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572768"/>
            <a:ext cx="3657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1B4F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2" name="Shape 10"/>
          <p:cNvSpPr/>
          <p:nvPr/>
        </p:nvSpPr>
        <p:spPr>
          <a:xfrm>
            <a:off x="274320" y="1572768"/>
            <a:ext cx="54864" cy="347472"/>
          </a:xfrm>
          <a:prstGeom prst="rect">
            <a:avLst/>
          </a:prstGeom>
          <a:solidFill>
            <a:srgbClr val="1B4F9C"/>
          </a:solidFill>
          <a:ln w="12700">
            <a:solidFill>
              <a:srgbClr val="1B4F9C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384048" y="159105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4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core/llm.py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4048" y="1746504"/>
            <a:ext cx="3493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 Wrapper · 4 call variants · Retry logic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74320" y="2029968"/>
            <a:ext cx="3657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1B4F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6" name="Shape 14"/>
          <p:cNvSpPr/>
          <p:nvPr/>
        </p:nvSpPr>
        <p:spPr>
          <a:xfrm>
            <a:off x="274320" y="2029968"/>
            <a:ext cx="54864" cy="347472"/>
          </a:xfrm>
          <a:prstGeom prst="rect">
            <a:avLst/>
          </a:prstGeom>
          <a:solidFill>
            <a:srgbClr val="1B4F9C"/>
          </a:solidFill>
          <a:ln w="12700">
            <a:solidFill>
              <a:srgbClr val="1B4F9C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7" name="Text 15"/>
          <p:cNvSpPr/>
          <p:nvPr/>
        </p:nvSpPr>
        <p:spPr>
          <a:xfrm>
            <a:off x="384048" y="204825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4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core/executor.py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4048" y="2203704"/>
            <a:ext cx="3493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Sandboxed subprocess · 120s timeout · Numeric validation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74320" y="2487168"/>
            <a:ext cx="3657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20" name="Shape 18"/>
          <p:cNvSpPr/>
          <p:nvPr/>
        </p:nvSpPr>
        <p:spPr>
          <a:xfrm>
            <a:off x="274320" y="2487168"/>
            <a:ext cx="54864" cy="34747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1" name="Text 19"/>
          <p:cNvSpPr/>
          <p:nvPr/>
        </p:nvSpPr>
        <p:spPr>
          <a:xfrm>
            <a:off x="384048" y="250545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7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pipeline/experts.py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4048" y="2660904"/>
            <a:ext cx="3493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Chain-of-Experts 3-stage pipeline (Part 1 Baseline)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74320" y="2944368"/>
            <a:ext cx="3657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24" name="Shape 22"/>
          <p:cNvSpPr/>
          <p:nvPr/>
        </p:nvSpPr>
        <p:spPr>
          <a:xfrm>
            <a:off x="274320" y="2944368"/>
            <a:ext cx="54864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5" name="Text 23"/>
          <p:cNvSpPr/>
          <p:nvPr/>
        </p:nvSpPr>
        <p:spPr>
          <a:xfrm>
            <a:off x="384048" y="296265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mcts/node.py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84048" y="3118104"/>
            <a:ext cx="3493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MCTSNode · UCB1 formula · Tree structure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74320" y="3401568"/>
            <a:ext cx="3657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28" name="Shape 26"/>
          <p:cNvSpPr/>
          <p:nvPr/>
        </p:nvSpPr>
        <p:spPr>
          <a:xfrm>
            <a:off x="274320" y="3401568"/>
            <a:ext cx="54864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9" name="Text 27"/>
          <p:cNvSpPr/>
          <p:nvPr/>
        </p:nvSpPr>
        <p:spPr>
          <a:xfrm>
            <a:off x="384048" y="341985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mcts/search.py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84048" y="3575304"/>
            <a:ext cx="3493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· Expand · Simulate · Backpropagate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74320" y="3858768"/>
            <a:ext cx="3657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32" name="Shape 30"/>
          <p:cNvSpPr/>
          <p:nvPr/>
        </p:nvSpPr>
        <p:spPr>
          <a:xfrm>
            <a:off x="274320" y="3858768"/>
            <a:ext cx="54864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3" name="Text 31"/>
          <p:cNvSpPr/>
          <p:nvPr/>
        </p:nvSpPr>
        <p:spPr>
          <a:xfrm>
            <a:off x="384048" y="387705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mcts/evaluator.py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84048" y="4032504"/>
            <a:ext cx="3493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scoring · Reasoning signals · Uncertainty est.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74320" y="4315968"/>
            <a:ext cx="3657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36" name="Shape 34"/>
          <p:cNvSpPr/>
          <p:nvPr/>
        </p:nvSpPr>
        <p:spPr>
          <a:xfrm>
            <a:off x="274320" y="4315968"/>
            <a:ext cx="54864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7" name="Text 35"/>
          <p:cNvSpPr/>
          <p:nvPr/>
        </p:nvSpPr>
        <p:spPr>
          <a:xfrm>
            <a:off x="384048" y="433425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evaluation/evaluator.py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84048" y="4489704"/>
            <a:ext cx="3493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extraction · Correctness check (10% tol.)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093976" y="1463040"/>
            <a:ext cx="0" cy="10972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0" name="Shape 38"/>
          <p:cNvSpPr/>
          <p:nvPr/>
        </p:nvSpPr>
        <p:spPr>
          <a:xfrm>
            <a:off x="2093976" y="1920240"/>
            <a:ext cx="0" cy="10972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1" name="Shape 39"/>
          <p:cNvSpPr/>
          <p:nvPr/>
        </p:nvSpPr>
        <p:spPr>
          <a:xfrm>
            <a:off x="2093976" y="2377440"/>
            <a:ext cx="0" cy="10972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2" name="Shape 40"/>
          <p:cNvSpPr/>
          <p:nvPr/>
        </p:nvSpPr>
        <p:spPr>
          <a:xfrm>
            <a:off x="2093976" y="2834640"/>
            <a:ext cx="0" cy="10972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3" name="Shape 41"/>
          <p:cNvSpPr/>
          <p:nvPr/>
        </p:nvSpPr>
        <p:spPr>
          <a:xfrm>
            <a:off x="2093976" y="3291840"/>
            <a:ext cx="0" cy="10972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4" name="Shape 42"/>
          <p:cNvSpPr/>
          <p:nvPr/>
        </p:nvSpPr>
        <p:spPr>
          <a:xfrm>
            <a:off x="2093976" y="3749040"/>
            <a:ext cx="0" cy="10972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5" name="Shape 43"/>
          <p:cNvSpPr/>
          <p:nvPr/>
        </p:nvSpPr>
        <p:spPr>
          <a:xfrm>
            <a:off x="2093976" y="4206240"/>
            <a:ext cx="0" cy="10972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6" name="Text 44"/>
          <p:cNvSpPr/>
          <p:nvPr/>
        </p:nvSpPr>
        <p:spPr>
          <a:xfrm>
            <a:off x="4754880" y="7498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754880" y="1115568"/>
            <a:ext cx="4114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48" name="Text 46"/>
          <p:cNvSpPr/>
          <p:nvPr/>
        </p:nvSpPr>
        <p:spPr>
          <a:xfrm>
            <a:off x="4864608" y="1161288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126480" y="1179576"/>
            <a:ext cx="36576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0" name="Shape 48"/>
          <p:cNvSpPr/>
          <p:nvPr/>
        </p:nvSpPr>
        <p:spPr>
          <a:xfrm>
            <a:off x="6263640" y="1188720"/>
            <a:ext cx="2423160" cy="256032"/>
          </a:xfrm>
          <a:prstGeom prst="roundRect">
            <a:avLst>
              <a:gd name="adj" fmla="val 17857"/>
            </a:avLst>
          </a:prstGeom>
          <a:solidFill>
            <a:srgbClr val="1B4F9C">
              <a:alpha val="12000"/>
            </a:srgbClr>
          </a:solidFill>
          <a:ln w="12700">
            <a:solidFill>
              <a:srgbClr val="1B4F9C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1" name="Text 49"/>
          <p:cNvSpPr/>
          <p:nvPr/>
        </p:nvSpPr>
        <p:spPr>
          <a:xfrm>
            <a:off x="6355080" y="120700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4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754880" y="1618488"/>
            <a:ext cx="4114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53" name="Text 51"/>
          <p:cNvSpPr/>
          <p:nvPr/>
        </p:nvSpPr>
        <p:spPr>
          <a:xfrm>
            <a:off x="4864608" y="1664208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126480" y="1682496"/>
            <a:ext cx="36576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5" name="Shape 53"/>
          <p:cNvSpPr/>
          <p:nvPr/>
        </p:nvSpPr>
        <p:spPr>
          <a:xfrm>
            <a:off x="6263640" y="1691640"/>
            <a:ext cx="2423160" cy="256032"/>
          </a:xfrm>
          <a:prstGeom prst="roundRect">
            <a:avLst>
              <a:gd name="adj" fmla="val 17857"/>
            </a:avLst>
          </a:prstGeom>
          <a:solidFill>
            <a:srgbClr val="0E7C86">
              <a:alpha val="12000"/>
            </a:srgbClr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6" name="Text 54"/>
          <p:cNvSpPr/>
          <p:nvPr/>
        </p:nvSpPr>
        <p:spPr>
          <a:xfrm>
            <a:off x="6355080" y="170992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(OpenAI)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754880" y="2121408"/>
            <a:ext cx="4114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58" name="Text 56"/>
          <p:cNvSpPr/>
          <p:nvPr/>
        </p:nvSpPr>
        <p:spPr>
          <a:xfrm>
            <a:off x="4864608" y="2167128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126480" y="2185416"/>
            <a:ext cx="36576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0" name="Shape 58"/>
          <p:cNvSpPr/>
          <p:nvPr/>
        </p:nvSpPr>
        <p:spPr>
          <a:xfrm>
            <a:off x="6263640" y="2194560"/>
            <a:ext cx="2423160" cy="256032"/>
          </a:xfrm>
          <a:prstGeom prst="roundRect">
            <a:avLst>
              <a:gd name="adj" fmla="val 17857"/>
            </a:avLst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1" name="Text 59"/>
          <p:cNvSpPr/>
          <p:nvPr/>
        </p:nvSpPr>
        <p:spPr>
          <a:xfrm>
            <a:off x="6355080" y="221284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 optimize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754880" y="2624328"/>
            <a:ext cx="4114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63" name="Text 61"/>
          <p:cNvSpPr/>
          <p:nvPr/>
        </p:nvSpPr>
        <p:spPr>
          <a:xfrm>
            <a:off x="4864608" y="2670048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126480" y="2688336"/>
            <a:ext cx="36576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5" name="Shape 63"/>
          <p:cNvSpPr/>
          <p:nvPr/>
        </p:nvSpPr>
        <p:spPr>
          <a:xfrm>
            <a:off x="6263640" y="2697480"/>
            <a:ext cx="2423160" cy="256032"/>
          </a:xfrm>
          <a:prstGeom prst="roundRect">
            <a:avLst>
              <a:gd name="adj" fmla="val 17857"/>
            </a:avLst>
          </a:prstGeom>
          <a:solidFill>
            <a:srgbClr val="16A34A">
              <a:alpha val="12000"/>
            </a:srgbClr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6" name="Text 64"/>
          <p:cNvSpPr/>
          <p:nvPr/>
        </p:nvSpPr>
        <p:spPr>
          <a:xfrm>
            <a:off x="6355080" y="271576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(3 tables)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754880" y="3127248"/>
            <a:ext cx="4114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68" name="Text 66"/>
          <p:cNvSpPr/>
          <p:nvPr/>
        </p:nvSpPr>
        <p:spPr>
          <a:xfrm>
            <a:off x="4864608" y="3172968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Client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126480" y="3191256"/>
            <a:ext cx="36576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0" name="Shape 68"/>
          <p:cNvSpPr/>
          <p:nvPr/>
        </p:nvSpPr>
        <p:spPr>
          <a:xfrm>
            <a:off x="6263640" y="3200400"/>
            <a:ext cx="2423160" cy="256032"/>
          </a:xfrm>
          <a:prstGeom prst="roundRect">
            <a:avLst>
              <a:gd name="adj" fmla="val 17857"/>
            </a:avLst>
          </a:prstGeom>
          <a:solidFill>
            <a:srgbClr val="1B4F9C">
              <a:alpha val="12000"/>
            </a:srgbClr>
          </a:solidFill>
          <a:ln w="12700">
            <a:solidFill>
              <a:srgbClr val="1B4F9C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1" name="Text 69"/>
          <p:cNvSpPr/>
          <p:nvPr/>
        </p:nvSpPr>
        <p:spPr>
          <a:xfrm>
            <a:off x="6355080" y="321868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4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Python SDK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754880" y="3630168"/>
            <a:ext cx="4114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73" name="Text 71"/>
          <p:cNvSpPr/>
          <p:nvPr/>
        </p:nvSpPr>
        <p:spPr>
          <a:xfrm>
            <a:off x="4864608" y="3675888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126480" y="3694176"/>
            <a:ext cx="36576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5" name="Shape 73"/>
          <p:cNvSpPr/>
          <p:nvPr/>
        </p:nvSpPr>
        <p:spPr>
          <a:xfrm>
            <a:off x="6263640" y="3703320"/>
            <a:ext cx="2423160" cy="256032"/>
          </a:xfrm>
          <a:prstGeom prst="roundRect">
            <a:avLst>
              <a:gd name="adj" fmla="val 17857"/>
            </a:avLst>
          </a:prstGeom>
          <a:solidFill>
            <a:srgbClr val="64748B">
              <a:alpha val="12000"/>
            </a:srgbClr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6" name="Text 74"/>
          <p:cNvSpPr/>
          <p:nvPr/>
        </p:nvSpPr>
        <p:spPr>
          <a:xfrm>
            <a:off x="6355080" y="372160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python-dotenv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754880" y="4315968"/>
            <a:ext cx="4114800" cy="658368"/>
          </a:xfrm>
          <a:prstGeom prst="rect">
            <a:avLst/>
          </a:prstGeom>
          <a:solidFill>
            <a:srgbClr val="D6E4F7"/>
          </a:solidFill>
          <a:ln w="12700">
            <a:solidFill>
              <a:srgbClr val="1B4F9C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8" name="Text 76"/>
          <p:cNvSpPr/>
          <p:nvPr/>
        </p:nvSpPr>
        <p:spPr>
          <a:xfrm>
            <a:off x="4892040" y="435254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Database: 3 Tables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4892040" y="45445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4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(2,634 rows)   </a:t>
            </a:r>
            <a:r>
              <a:rPr lang="en-US" sz="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(CoE)   </a:t>
            </a: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mcts_results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56692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" name="Text 2"/>
          <p:cNvSpPr/>
          <p:nvPr/>
        </p:nvSpPr>
        <p:spPr>
          <a:xfrm>
            <a:off x="502920" y="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DESIGN &amp; MCTS TREE STRUCTURE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7132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Chain-of-Experts (CoE) Pipeline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042416"/>
            <a:ext cx="3474720" cy="384048"/>
          </a:xfrm>
          <a:prstGeom prst="roundRect">
            <a:avLst>
              <a:gd name="adj" fmla="val 14286"/>
            </a:avLst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8" name="Text 6"/>
          <p:cNvSpPr/>
          <p:nvPr/>
        </p:nvSpPr>
        <p:spPr>
          <a:xfrm>
            <a:off x="502920" y="104241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Problem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48840" y="1426464"/>
            <a:ext cx="0" cy="18288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" name="Shape 8"/>
          <p:cNvSpPr/>
          <p:nvPr/>
        </p:nvSpPr>
        <p:spPr>
          <a:xfrm>
            <a:off x="2084832" y="1563624"/>
            <a:ext cx="128016" cy="640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" name="Shape 9"/>
          <p:cNvSpPr/>
          <p:nvPr/>
        </p:nvSpPr>
        <p:spPr>
          <a:xfrm>
            <a:off x="411480" y="1664208"/>
            <a:ext cx="3474720" cy="384048"/>
          </a:xfrm>
          <a:prstGeom prst="roundRect">
            <a:avLst>
              <a:gd name="adj" fmla="val 14286"/>
            </a:avLst>
          </a:prstGeom>
          <a:solidFill>
            <a:srgbClr val="1B4F9C"/>
          </a:solidFill>
          <a:ln w="12700">
            <a:solidFill>
              <a:srgbClr val="1B4F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2" name="Text 10"/>
          <p:cNvSpPr/>
          <p:nvPr/>
        </p:nvSpPr>
        <p:spPr>
          <a:xfrm>
            <a:off x="502920" y="166420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Interpretation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148840" y="2048256"/>
            <a:ext cx="0" cy="18288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" name="Shape 12"/>
          <p:cNvSpPr/>
          <p:nvPr/>
        </p:nvSpPr>
        <p:spPr>
          <a:xfrm>
            <a:off x="2084832" y="2185416"/>
            <a:ext cx="128016" cy="640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" name="Shape 13"/>
          <p:cNvSpPr/>
          <p:nvPr/>
        </p:nvSpPr>
        <p:spPr>
          <a:xfrm>
            <a:off x="411480" y="2286000"/>
            <a:ext cx="3474720" cy="384048"/>
          </a:xfrm>
          <a:prstGeom prst="roundRect">
            <a:avLst>
              <a:gd name="adj" fmla="val 14286"/>
            </a:avLst>
          </a:prstGeom>
          <a:solidFill>
            <a:srgbClr val="1B4F9C"/>
          </a:solidFill>
          <a:ln w="12700">
            <a:solidFill>
              <a:srgbClr val="1B4F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6" name="Text 14"/>
          <p:cNvSpPr/>
          <p:nvPr/>
        </p:nvSpPr>
        <p:spPr>
          <a:xfrm>
            <a:off x="502920" y="22860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Formulation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148840" y="2670048"/>
            <a:ext cx="0" cy="18288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8" name="Shape 16"/>
          <p:cNvSpPr/>
          <p:nvPr/>
        </p:nvSpPr>
        <p:spPr>
          <a:xfrm>
            <a:off x="2084832" y="2807208"/>
            <a:ext cx="128016" cy="640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9" name="Shape 17"/>
          <p:cNvSpPr/>
          <p:nvPr/>
        </p:nvSpPr>
        <p:spPr>
          <a:xfrm>
            <a:off x="411480" y="2907792"/>
            <a:ext cx="3474720" cy="384048"/>
          </a:xfrm>
          <a:prstGeom prst="roundRect">
            <a:avLst>
              <a:gd name="adj" fmla="val 14286"/>
            </a:avLst>
          </a:prstGeom>
          <a:solidFill>
            <a:srgbClr val="1B4F9C"/>
          </a:solidFill>
          <a:ln w="12700">
            <a:solidFill>
              <a:srgbClr val="1B4F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20" name="Text 18"/>
          <p:cNvSpPr/>
          <p:nvPr/>
        </p:nvSpPr>
        <p:spPr>
          <a:xfrm>
            <a:off x="502920" y="290779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Code Generation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148840" y="3291840"/>
            <a:ext cx="0" cy="18288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2" name="Shape 20"/>
          <p:cNvSpPr/>
          <p:nvPr/>
        </p:nvSpPr>
        <p:spPr>
          <a:xfrm>
            <a:off x="2084832" y="3429000"/>
            <a:ext cx="128016" cy="640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3" name="Shape 21"/>
          <p:cNvSpPr/>
          <p:nvPr/>
        </p:nvSpPr>
        <p:spPr>
          <a:xfrm>
            <a:off x="411480" y="3529584"/>
            <a:ext cx="3474720" cy="384048"/>
          </a:xfrm>
          <a:prstGeom prst="roundRect">
            <a:avLst>
              <a:gd name="adj" fmla="val 14286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24" name="Text 22"/>
          <p:cNvSpPr/>
          <p:nvPr/>
        </p:nvSpPr>
        <p:spPr>
          <a:xfrm>
            <a:off x="502920" y="352958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Execution (≤3 retries)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148840" y="3913632"/>
            <a:ext cx="0" cy="18288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6" name="Shape 24"/>
          <p:cNvSpPr/>
          <p:nvPr/>
        </p:nvSpPr>
        <p:spPr>
          <a:xfrm>
            <a:off x="2084832" y="4050792"/>
            <a:ext cx="128016" cy="640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7" name="Shape 25"/>
          <p:cNvSpPr/>
          <p:nvPr/>
        </p:nvSpPr>
        <p:spPr>
          <a:xfrm>
            <a:off x="411480" y="4151376"/>
            <a:ext cx="3474720" cy="384048"/>
          </a:xfrm>
          <a:prstGeom prst="roundRect">
            <a:avLst>
              <a:gd name="adj" fmla="val 14286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28" name="Text 26"/>
          <p:cNvSpPr/>
          <p:nvPr/>
        </p:nvSpPr>
        <p:spPr>
          <a:xfrm>
            <a:off x="502920" y="415137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Answer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77640" y="3163824"/>
            <a:ext cx="0" cy="82296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0" name="Shape 28"/>
          <p:cNvSpPr/>
          <p:nvPr/>
        </p:nvSpPr>
        <p:spPr>
          <a:xfrm>
            <a:off x="3749040" y="3163824"/>
            <a:ext cx="2286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1" name="Shape 29"/>
          <p:cNvSpPr/>
          <p:nvPr/>
        </p:nvSpPr>
        <p:spPr>
          <a:xfrm>
            <a:off x="3749040" y="3986784"/>
            <a:ext cx="2286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2" name="Text 30"/>
          <p:cNvSpPr/>
          <p:nvPr/>
        </p:nvSpPr>
        <p:spPr>
          <a:xfrm>
            <a:off x="4005072" y="34290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</a:t>
            </a:r>
            <a:endParaRPr lang="en-US" sz="800" dirty="0"/>
          </a:p>
          <a:p>
            <a:pPr marL="0" indent="0">
              <a:buNone/>
            </a:pPr>
            <a:r>
              <a:rPr lang="en-US" sz="8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fail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572000" y="71323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MCTS Tree (6 Layers)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80008" y="1042416"/>
            <a:ext cx="3623911" cy="365760"/>
          </a:xfrm>
          <a:prstGeom prst="roundRect">
            <a:avLst>
              <a:gd name="adj" fmla="val 12500"/>
            </a:avLst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35" name="Text 33"/>
          <p:cNvSpPr/>
          <p:nvPr/>
        </p:nvSpPr>
        <p:spPr>
          <a:xfrm>
            <a:off x="6291072" y="1042416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 (Problem Statement)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360920" y="1408176"/>
            <a:ext cx="0" cy="2743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7" name="Shape 35"/>
          <p:cNvSpPr/>
          <p:nvPr/>
        </p:nvSpPr>
        <p:spPr>
          <a:xfrm>
            <a:off x="4880009" y="1682496"/>
            <a:ext cx="3623907" cy="365760"/>
          </a:xfrm>
          <a:prstGeom prst="roundRect">
            <a:avLst>
              <a:gd name="adj" fmla="val 12500"/>
            </a:avLst>
          </a:prstGeom>
          <a:solidFill>
            <a:srgbClr val="1B4F9C"/>
          </a:solidFill>
          <a:ln w="12700">
            <a:solidFill>
              <a:srgbClr val="1B4F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38" name="Text 36"/>
          <p:cNvSpPr/>
          <p:nvPr/>
        </p:nvSpPr>
        <p:spPr>
          <a:xfrm>
            <a:off x="4880008" y="1682496"/>
            <a:ext cx="3825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· Type  (LP/MILP/NLP…)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315200" y="2048256"/>
            <a:ext cx="0" cy="237744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0" name="Shape 38"/>
          <p:cNvSpPr/>
          <p:nvPr/>
        </p:nvSpPr>
        <p:spPr>
          <a:xfrm>
            <a:off x="4880008" y="2286000"/>
            <a:ext cx="3623905" cy="365760"/>
          </a:xfrm>
          <a:prstGeom prst="roundRect">
            <a:avLst>
              <a:gd name="adj" fmla="val 12500"/>
            </a:avLst>
          </a:prstGeom>
          <a:solidFill>
            <a:srgbClr val="1B4F9C"/>
          </a:solidFill>
          <a:ln w="12700">
            <a:solidFill>
              <a:srgbClr val="1B4F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41" name="Text 39"/>
          <p:cNvSpPr/>
          <p:nvPr/>
        </p:nvSpPr>
        <p:spPr>
          <a:xfrm>
            <a:off x="4880008" y="2286000"/>
            <a:ext cx="368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· Sets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315200" y="2651760"/>
            <a:ext cx="0" cy="237744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3" name="Shape 41"/>
          <p:cNvSpPr/>
          <p:nvPr/>
        </p:nvSpPr>
        <p:spPr>
          <a:xfrm>
            <a:off x="4880008" y="2889504"/>
            <a:ext cx="3623901" cy="365760"/>
          </a:xfrm>
          <a:prstGeom prst="roundRect">
            <a:avLst>
              <a:gd name="adj" fmla="val 12500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44" name="Text 42"/>
          <p:cNvSpPr/>
          <p:nvPr/>
        </p:nvSpPr>
        <p:spPr>
          <a:xfrm>
            <a:off x="6062472" y="2889504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· Parameters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315200" y="3255264"/>
            <a:ext cx="0" cy="237744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6" name="Shape 44"/>
          <p:cNvSpPr/>
          <p:nvPr/>
        </p:nvSpPr>
        <p:spPr>
          <a:xfrm>
            <a:off x="4880008" y="3493008"/>
            <a:ext cx="3623900" cy="365760"/>
          </a:xfrm>
          <a:prstGeom prst="roundRect">
            <a:avLst>
              <a:gd name="adj" fmla="val 12500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47" name="Text 45"/>
          <p:cNvSpPr/>
          <p:nvPr/>
        </p:nvSpPr>
        <p:spPr>
          <a:xfrm>
            <a:off x="6062472" y="3493008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· Variables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315200" y="3858768"/>
            <a:ext cx="0" cy="237744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9" name="Shape 47"/>
          <p:cNvSpPr/>
          <p:nvPr/>
        </p:nvSpPr>
        <p:spPr>
          <a:xfrm>
            <a:off x="4880008" y="4096512"/>
            <a:ext cx="3623894" cy="365760"/>
          </a:xfrm>
          <a:prstGeom prst="round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algn="ctr"/>
            <a:endParaRPr lang="en-CN" dirty="0"/>
          </a:p>
        </p:txBody>
      </p:sp>
      <p:sp>
        <p:nvSpPr>
          <p:cNvPr id="50" name="Text 48"/>
          <p:cNvSpPr/>
          <p:nvPr/>
        </p:nvSpPr>
        <p:spPr>
          <a:xfrm>
            <a:off x="6062470" y="4096512"/>
            <a:ext cx="250545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5 · Objective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315200" y="4462272"/>
            <a:ext cx="0" cy="10972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2" name="Shape 50"/>
          <p:cNvSpPr/>
          <p:nvPr/>
        </p:nvSpPr>
        <p:spPr>
          <a:xfrm>
            <a:off x="4880008" y="4572000"/>
            <a:ext cx="3623891" cy="365760"/>
          </a:xfrm>
          <a:prstGeom prst="roundRect">
            <a:avLst>
              <a:gd name="adj" fmla="val 125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53" name="Text 51"/>
          <p:cNvSpPr/>
          <p:nvPr/>
        </p:nvSpPr>
        <p:spPr>
          <a:xfrm>
            <a:off x="5742432" y="457200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6 · Constraints  ← Complete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CN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" name="Text 2"/>
          <p:cNvSpPr/>
          <p:nvPr/>
        </p:nvSpPr>
        <p:spPr>
          <a:xfrm>
            <a:off x="502920" y="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MCTS ALGORITHM: 4-STEP SEARCH LOOP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037679" y="0"/>
            <a:ext cx="501488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CN" sz="1000" dirty="0">
                <a:solidFill>
                  <a:schemeClr val="bg1"/>
                </a:solidFill>
              </a:rPr>
              <a:t>🔴 </a:t>
            </a:r>
            <a:r>
              <a:rPr lang="en-US" sz="1000" b="1" dirty="0">
                <a:solidFill>
                  <a:schemeClr val="bg1"/>
                </a:solidFill>
              </a:rPr>
              <a:t>Visited Node</a:t>
            </a:r>
            <a:r>
              <a:rPr lang="zh-CN" altLang="en-US" sz="1000" b="1" dirty="0">
                <a:solidFill>
                  <a:schemeClr val="bg1"/>
                </a:solidFill>
              </a:rPr>
              <a:t>   </a:t>
            </a:r>
            <a:r>
              <a:rPr lang="en-CN" sz="1000" dirty="0">
                <a:solidFill>
                  <a:schemeClr val="bg1"/>
                </a:solidFill>
              </a:rPr>
              <a:t>🩶 </a:t>
            </a:r>
            <a:r>
              <a:rPr lang="en-US" sz="1000" b="1" dirty="0">
                <a:solidFill>
                  <a:schemeClr val="bg1"/>
                </a:solidFill>
              </a:rPr>
              <a:t>Leaf Node</a:t>
            </a:r>
            <a:r>
              <a:rPr lang="zh-CN" altLang="en-US" sz="1000" b="1" dirty="0">
                <a:solidFill>
                  <a:schemeClr val="bg1"/>
                </a:solidFill>
              </a:rPr>
              <a:t>  </a:t>
            </a:r>
            <a:r>
              <a:rPr lang="en-CN" sz="1000" dirty="0">
                <a:solidFill>
                  <a:schemeClr val="bg1"/>
                </a:solidFill>
              </a:rPr>
              <a:t>🔵 </a:t>
            </a:r>
            <a:r>
              <a:rPr lang="en-US" sz="1000" b="1" dirty="0">
                <a:solidFill>
                  <a:schemeClr val="bg1"/>
                </a:solidFill>
              </a:rPr>
              <a:t>Expanded Child</a:t>
            </a:r>
            <a:r>
              <a:rPr lang="zh-CN" altLang="en-US" sz="1000" b="1" dirty="0">
                <a:solidFill>
                  <a:schemeClr val="bg1"/>
                </a:solidFill>
              </a:rPr>
              <a:t>  </a:t>
            </a:r>
            <a:r>
              <a:rPr lang="en-CN" sz="1000" dirty="0">
                <a:solidFill>
                  <a:schemeClr val="bg1"/>
                </a:solidFill>
              </a:rPr>
              <a:t>🟣 </a:t>
            </a:r>
            <a:r>
              <a:rPr lang="en-US" sz="1000" b="1" dirty="0">
                <a:solidFill>
                  <a:schemeClr val="bg1"/>
                </a:solidFill>
              </a:rPr>
              <a:t>Rollout Node</a:t>
            </a:r>
            <a:r>
              <a:rPr lang="zh-CN" altLang="en-US" sz="1000" b="1" dirty="0">
                <a:solidFill>
                  <a:schemeClr val="bg1"/>
                </a:solidFill>
              </a:rPr>
              <a:t>  </a:t>
            </a:r>
            <a:r>
              <a:rPr lang="en-CN" sz="1000" dirty="0">
                <a:solidFill>
                  <a:schemeClr val="bg1"/>
                </a:solidFill>
              </a:rPr>
              <a:t>🟢 </a:t>
            </a:r>
            <a:r>
              <a:rPr lang="en-US" sz="1000" b="1" dirty="0">
                <a:solidFill>
                  <a:schemeClr val="bg1"/>
                </a:solidFill>
              </a:rPr>
              <a:t>Terminal State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2290572" y="658368"/>
            <a:ext cx="0" cy="43891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" name="Shape 5"/>
          <p:cNvSpPr/>
          <p:nvPr/>
        </p:nvSpPr>
        <p:spPr>
          <a:xfrm>
            <a:off x="960120" y="676656"/>
            <a:ext cx="402336" cy="402336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" name="Text 6"/>
          <p:cNvSpPr/>
          <p:nvPr/>
        </p:nvSpPr>
        <p:spPr>
          <a:xfrm>
            <a:off x="960120" y="676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" y="1161288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8016" y="1353312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4592" y="1591056"/>
            <a:ext cx="19933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root, walk the tree using UCB1 to choose which existing child to visit next. Unvisited nodes return ∞ and are always explored first.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024128" y="2295144"/>
            <a:ext cx="274320" cy="2743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" name="Shape 11"/>
          <p:cNvSpPr/>
          <p:nvPr/>
        </p:nvSpPr>
        <p:spPr>
          <a:xfrm flipH="1">
            <a:off x="886968" y="2532888"/>
            <a:ext cx="274320" cy="219456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CN" dirty="0"/>
          </a:p>
        </p:txBody>
      </p:sp>
      <p:sp>
        <p:nvSpPr>
          <p:cNvPr id="14" name="Shape 12"/>
          <p:cNvSpPr/>
          <p:nvPr/>
        </p:nvSpPr>
        <p:spPr>
          <a:xfrm>
            <a:off x="658368" y="2752344"/>
            <a:ext cx="237744" cy="237744"/>
          </a:xfrm>
          <a:prstGeom prst="ellipse">
            <a:avLst/>
          </a:prstGeom>
          <a:solidFill>
            <a:srgbClr val="CC333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" name="Shape 13"/>
          <p:cNvSpPr/>
          <p:nvPr/>
        </p:nvSpPr>
        <p:spPr>
          <a:xfrm flipH="1">
            <a:off x="530353" y="2953512"/>
            <a:ext cx="246887" cy="210312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6" name="Shape 14"/>
          <p:cNvSpPr/>
          <p:nvPr/>
        </p:nvSpPr>
        <p:spPr>
          <a:xfrm>
            <a:off x="466344" y="3154680"/>
            <a:ext cx="201168" cy="201168"/>
          </a:xfrm>
          <a:prstGeom prst="ellipse">
            <a:avLst/>
          </a:prstGeom>
          <a:solidFill>
            <a:srgbClr val="CC333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7" name="Shape 15"/>
          <p:cNvSpPr/>
          <p:nvPr/>
        </p:nvSpPr>
        <p:spPr>
          <a:xfrm>
            <a:off x="777240" y="2953512"/>
            <a:ext cx="182880" cy="210312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8" name="Shape 16"/>
          <p:cNvSpPr/>
          <p:nvPr/>
        </p:nvSpPr>
        <p:spPr>
          <a:xfrm>
            <a:off x="859536" y="3154680"/>
            <a:ext cx="201168" cy="201168"/>
          </a:xfrm>
          <a:prstGeom prst="ellipse">
            <a:avLst/>
          </a:prstGeom>
          <a:solidFill>
            <a:srgbClr val="CC333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9" name="Shape 17"/>
          <p:cNvSpPr/>
          <p:nvPr/>
        </p:nvSpPr>
        <p:spPr>
          <a:xfrm>
            <a:off x="1161288" y="2532888"/>
            <a:ext cx="384048" cy="237744"/>
          </a:xfrm>
          <a:prstGeom prst="line">
            <a:avLst/>
          </a:prstGeom>
          <a:noFill/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0" name="Shape 18"/>
          <p:cNvSpPr/>
          <p:nvPr/>
        </p:nvSpPr>
        <p:spPr>
          <a:xfrm>
            <a:off x="1408176" y="2734056"/>
            <a:ext cx="274320" cy="2743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1" name="Shape 19"/>
          <p:cNvSpPr/>
          <p:nvPr/>
        </p:nvSpPr>
        <p:spPr>
          <a:xfrm flipH="1">
            <a:off x="1362456" y="3008376"/>
            <a:ext cx="100584" cy="146304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2" name="Shape 20"/>
          <p:cNvSpPr/>
          <p:nvPr/>
        </p:nvSpPr>
        <p:spPr>
          <a:xfrm>
            <a:off x="1243584" y="3163824"/>
            <a:ext cx="201168" cy="201168"/>
          </a:xfrm>
          <a:prstGeom prst="ellipse">
            <a:avLst/>
          </a:prstGeom>
          <a:solidFill>
            <a:srgbClr val="CC333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3" name="Shape 21"/>
          <p:cNvSpPr/>
          <p:nvPr/>
        </p:nvSpPr>
        <p:spPr>
          <a:xfrm>
            <a:off x="1633994" y="3017520"/>
            <a:ext cx="108534" cy="173736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4" name="Shape 22"/>
          <p:cNvSpPr/>
          <p:nvPr/>
        </p:nvSpPr>
        <p:spPr>
          <a:xfrm>
            <a:off x="1668780" y="3145536"/>
            <a:ext cx="178308" cy="201168"/>
          </a:xfrm>
          <a:prstGeom prst="ellipse">
            <a:avLst/>
          </a:prstGeom>
          <a:solidFill>
            <a:srgbClr val="BBBBBB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7" name="Text 25"/>
          <p:cNvSpPr/>
          <p:nvPr/>
        </p:nvSpPr>
        <p:spPr>
          <a:xfrm>
            <a:off x="128016" y="3438144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UCB1 Policy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28016" y="3584448"/>
            <a:ext cx="2066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Unvisited node → ∞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549140" y="658368"/>
            <a:ext cx="0" cy="43891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0" name="Shape 28"/>
          <p:cNvSpPr/>
          <p:nvPr/>
        </p:nvSpPr>
        <p:spPr>
          <a:xfrm>
            <a:off x="3218688" y="676656"/>
            <a:ext cx="402336" cy="402336"/>
          </a:xfrm>
          <a:prstGeom prst="ellipse">
            <a:avLst/>
          </a:prstGeom>
          <a:solidFill>
            <a:srgbClr val="1B4F9C"/>
          </a:solidFill>
          <a:ln w="12700">
            <a:solidFill>
              <a:srgbClr val="1B4F9C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1" name="Text 29"/>
          <p:cNvSpPr/>
          <p:nvPr/>
        </p:nvSpPr>
        <p:spPr>
          <a:xfrm>
            <a:off x="3218688" y="676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2386584" y="1161288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386584" y="1353312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423160" y="1591056"/>
            <a:ext cx="19933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new child nodes (formulation elements) for the selected node using the LLM. Up to 5 children per node; similar candidates (&gt;0.8) are pruned.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82696" y="2295144"/>
            <a:ext cx="274320" cy="274320"/>
          </a:xfrm>
          <a:prstGeom prst="ellipse">
            <a:avLst/>
          </a:prstGeom>
          <a:solidFill>
            <a:srgbClr val="1B4F9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6" name="Shape 34"/>
          <p:cNvSpPr/>
          <p:nvPr/>
        </p:nvSpPr>
        <p:spPr>
          <a:xfrm flipH="1">
            <a:off x="3154679" y="2532888"/>
            <a:ext cx="265177" cy="265176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7" name="Shape 35"/>
          <p:cNvSpPr/>
          <p:nvPr/>
        </p:nvSpPr>
        <p:spPr>
          <a:xfrm>
            <a:off x="2916936" y="2752344"/>
            <a:ext cx="237744" cy="237744"/>
          </a:xfrm>
          <a:prstGeom prst="ellipse">
            <a:avLst/>
          </a:prstGeom>
          <a:solidFill>
            <a:srgbClr val="CC333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8" name="Shape 36"/>
          <p:cNvSpPr/>
          <p:nvPr/>
        </p:nvSpPr>
        <p:spPr>
          <a:xfrm flipH="1">
            <a:off x="2898649" y="2953512"/>
            <a:ext cx="137159" cy="210312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9" name="Shape 37"/>
          <p:cNvSpPr/>
          <p:nvPr/>
        </p:nvSpPr>
        <p:spPr>
          <a:xfrm>
            <a:off x="2761488" y="3163824"/>
            <a:ext cx="182880" cy="182880"/>
          </a:xfrm>
          <a:prstGeom prst="ellipse">
            <a:avLst/>
          </a:prstGeom>
          <a:solidFill>
            <a:srgbClr val="CC333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0" name="Shape 38"/>
          <p:cNvSpPr/>
          <p:nvPr/>
        </p:nvSpPr>
        <p:spPr>
          <a:xfrm>
            <a:off x="3035808" y="2953512"/>
            <a:ext cx="182880" cy="210312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1" name="Shape 39"/>
          <p:cNvSpPr/>
          <p:nvPr/>
        </p:nvSpPr>
        <p:spPr>
          <a:xfrm>
            <a:off x="3127248" y="3163824"/>
            <a:ext cx="182880" cy="182880"/>
          </a:xfrm>
          <a:prstGeom prst="ellipse">
            <a:avLst/>
          </a:prstGeom>
          <a:solidFill>
            <a:srgbClr val="CC333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2" name="Shape 40"/>
          <p:cNvSpPr/>
          <p:nvPr/>
        </p:nvSpPr>
        <p:spPr>
          <a:xfrm>
            <a:off x="3419856" y="2532888"/>
            <a:ext cx="384048" cy="237744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3" name="Shape 41"/>
          <p:cNvSpPr/>
          <p:nvPr/>
        </p:nvSpPr>
        <p:spPr>
          <a:xfrm>
            <a:off x="3685032" y="2752344"/>
            <a:ext cx="237744" cy="237744"/>
          </a:xfrm>
          <a:prstGeom prst="ellipse">
            <a:avLst/>
          </a:prstGeom>
          <a:solidFill>
            <a:srgbClr val="CC333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4" name="Shape 42"/>
          <p:cNvSpPr/>
          <p:nvPr/>
        </p:nvSpPr>
        <p:spPr>
          <a:xfrm flipH="1">
            <a:off x="3675888" y="2953512"/>
            <a:ext cx="128016" cy="237744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5" name="Shape 43"/>
          <p:cNvSpPr/>
          <p:nvPr/>
        </p:nvSpPr>
        <p:spPr>
          <a:xfrm>
            <a:off x="3529584" y="3163824"/>
            <a:ext cx="182880" cy="182880"/>
          </a:xfrm>
          <a:prstGeom prst="ellipse">
            <a:avLst/>
          </a:prstGeom>
          <a:solidFill>
            <a:srgbClr val="CC333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6" name="Shape 44"/>
          <p:cNvSpPr/>
          <p:nvPr/>
        </p:nvSpPr>
        <p:spPr>
          <a:xfrm>
            <a:off x="3803903" y="2953512"/>
            <a:ext cx="173737" cy="173736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7" name="Shape 45"/>
          <p:cNvSpPr/>
          <p:nvPr/>
        </p:nvSpPr>
        <p:spPr>
          <a:xfrm>
            <a:off x="3831336" y="3118104"/>
            <a:ext cx="237744" cy="237744"/>
          </a:xfrm>
          <a:prstGeom prst="ellipse">
            <a:avLst/>
          </a:prstGeom>
          <a:solidFill>
            <a:srgbClr val="BBBBBB"/>
          </a:solidFill>
          <a:ln w="12700">
            <a:solidFill>
              <a:srgbClr val="1B4F9C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9" name="Shape 47"/>
          <p:cNvSpPr/>
          <p:nvPr/>
        </p:nvSpPr>
        <p:spPr>
          <a:xfrm>
            <a:off x="3566160" y="3520440"/>
            <a:ext cx="182880" cy="182880"/>
          </a:xfrm>
          <a:prstGeom prst="ellipse">
            <a:avLst/>
          </a:prstGeom>
          <a:solidFill>
            <a:srgbClr val="3366C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1" name="Shape 49"/>
          <p:cNvSpPr/>
          <p:nvPr/>
        </p:nvSpPr>
        <p:spPr>
          <a:xfrm>
            <a:off x="3854799" y="3565026"/>
            <a:ext cx="182880" cy="182880"/>
          </a:xfrm>
          <a:prstGeom prst="ellipse">
            <a:avLst/>
          </a:prstGeom>
          <a:solidFill>
            <a:srgbClr val="3366C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3" name="Shape 51"/>
          <p:cNvSpPr/>
          <p:nvPr/>
        </p:nvSpPr>
        <p:spPr>
          <a:xfrm>
            <a:off x="4151376" y="3520440"/>
            <a:ext cx="182880" cy="182880"/>
          </a:xfrm>
          <a:prstGeom prst="ellipse">
            <a:avLst/>
          </a:prstGeom>
          <a:solidFill>
            <a:srgbClr val="3366C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4" name="Text 52"/>
          <p:cNvSpPr/>
          <p:nvPr/>
        </p:nvSpPr>
        <p:spPr>
          <a:xfrm>
            <a:off x="2386584" y="3712464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4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Leaf Node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386584" y="3867912"/>
            <a:ext cx="2066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generates ≤5 alternatives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6807708" y="658368"/>
            <a:ext cx="0" cy="43891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7" name="Shape 55"/>
          <p:cNvSpPr/>
          <p:nvPr/>
        </p:nvSpPr>
        <p:spPr>
          <a:xfrm>
            <a:off x="5477256" y="676656"/>
            <a:ext cx="402336" cy="40233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8" name="Text 56"/>
          <p:cNvSpPr/>
          <p:nvPr/>
        </p:nvSpPr>
        <p:spPr>
          <a:xfrm>
            <a:off x="5477256" y="676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59" name="Text 57"/>
          <p:cNvSpPr/>
          <p:nvPr/>
        </p:nvSpPr>
        <p:spPr>
          <a:xfrm>
            <a:off x="4645152" y="1161288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645152" y="1353312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4681728" y="1591056"/>
            <a:ext cx="19933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remaining formulation layers greedily, generate &amp; execute Python/SciPy code (up to 12 retries), and evaluate the result with the LLM scorer.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5550408" y="2276856"/>
            <a:ext cx="256032" cy="256032"/>
          </a:xfrm>
          <a:prstGeom prst="ellipse">
            <a:avLst/>
          </a:prstGeom>
          <a:solidFill>
            <a:srgbClr val="CC333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3" name="Shape 61"/>
          <p:cNvSpPr/>
          <p:nvPr/>
        </p:nvSpPr>
        <p:spPr>
          <a:xfrm flipH="1">
            <a:off x="5458968" y="2496312"/>
            <a:ext cx="219456" cy="18288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4" name="Shape 62"/>
          <p:cNvSpPr/>
          <p:nvPr/>
        </p:nvSpPr>
        <p:spPr>
          <a:xfrm>
            <a:off x="5221224" y="2660904"/>
            <a:ext cx="219456" cy="219456"/>
          </a:xfrm>
          <a:prstGeom prst="ellipse">
            <a:avLst/>
          </a:prstGeom>
          <a:solidFill>
            <a:srgbClr val="CC333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5" name="Shape 63"/>
          <p:cNvSpPr/>
          <p:nvPr/>
        </p:nvSpPr>
        <p:spPr>
          <a:xfrm flipH="1">
            <a:off x="5202936" y="2852928"/>
            <a:ext cx="128016" cy="18288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6" name="Shape 64"/>
          <p:cNvSpPr/>
          <p:nvPr/>
        </p:nvSpPr>
        <p:spPr>
          <a:xfrm>
            <a:off x="5084064" y="3026664"/>
            <a:ext cx="182880" cy="182880"/>
          </a:xfrm>
          <a:prstGeom prst="ellipse">
            <a:avLst/>
          </a:prstGeom>
          <a:solidFill>
            <a:srgbClr val="CC333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7" name="Shape 65"/>
          <p:cNvSpPr/>
          <p:nvPr/>
        </p:nvSpPr>
        <p:spPr>
          <a:xfrm>
            <a:off x="5330952" y="2852928"/>
            <a:ext cx="164592" cy="18288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8" name="Shape 66"/>
          <p:cNvSpPr/>
          <p:nvPr/>
        </p:nvSpPr>
        <p:spPr>
          <a:xfrm>
            <a:off x="5404104" y="3026664"/>
            <a:ext cx="182880" cy="182880"/>
          </a:xfrm>
          <a:prstGeom prst="ellipse">
            <a:avLst/>
          </a:prstGeom>
          <a:solidFill>
            <a:srgbClr val="CC333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9" name="Shape 67"/>
          <p:cNvSpPr/>
          <p:nvPr/>
        </p:nvSpPr>
        <p:spPr>
          <a:xfrm>
            <a:off x="5678424" y="2496312"/>
            <a:ext cx="347472" cy="192024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0" name="Shape 68"/>
          <p:cNvSpPr/>
          <p:nvPr/>
        </p:nvSpPr>
        <p:spPr>
          <a:xfrm>
            <a:off x="5916168" y="2660904"/>
            <a:ext cx="219456" cy="219456"/>
          </a:xfrm>
          <a:prstGeom prst="ellipse">
            <a:avLst/>
          </a:prstGeom>
          <a:solidFill>
            <a:srgbClr val="CC333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1" name="Shape 69"/>
          <p:cNvSpPr/>
          <p:nvPr/>
        </p:nvSpPr>
        <p:spPr>
          <a:xfrm flipH="1">
            <a:off x="5875020" y="2843784"/>
            <a:ext cx="96012" cy="18288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2" name="Shape 70"/>
          <p:cNvSpPr/>
          <p:nvPr/>
        </p:nvSpPr>
        <p:spPr>
          <a:xfrm>
            <a:off x="5788152" y="3026664"/>
            <a:ext cx="182880" cy="182880"/>
          </a:xfrm>
          <a:prstGeom prst="ellipse">
            <a:avLst/>
          </a:prstGeom>
          <a:solidFill>
            <a:srgbClr val="CC333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3" name="Shape 71"/>
          <p:cNvSpPr/>
          <p:nvPr/>
        </p:nvSpPr>
        <p:spPr>
          <a:xfrm>
            <a:off x="6025896" y="2852928"/>
            <a:ext cx="128016" cy="164592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4" name="Shape 72"/>
          <p:cNvSpPr/>
          <p:nvPr/>
        </p:nvSpPr>
        <p:spPr>
          <a:xfrm>
            <a:off x="6044184" y="2990088"/>
            <a:ext cx="219456" cy="21945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5" name="Shape 73"/>
          <p:cNvSpPr/>
          <p:nvPr/>
        </p:nvSpPr>
        <p:spPr>
          <a:xfrm>
            <a:off x="6153912" y="3182112"/>
            <a:ext cx="0" cy="13716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6" name="Shape 74"/>
          <p:cNvSpPr/>
          <p:nvPr/>
        </p:nvSpPr>
        <p:spPr>
          <a:xfrm>
            <a:off x="6062472" y="3291840"/>
            <a:ext cx="182880" cy="182880"/>
          </a:xfrm>
          <a:prstGeom prst="ellipse">
            <a:avLst/>
          </a:prstGeom>
          <a:solidFill>
            <a:srgbClr val="3366C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7" name="Shape 75"/>
          <p:cNvSpPr/>
          <p:nvPr/>
        </p:nvSpPr>
        <p:spPr>
          <a:xfrm>
            <a:off x="6153912" y="3474720"/>
            <a:ext cx="0" cy="109728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8" name="Shape 76"/>
          <p:cNvSpPr/>
          <p:nvPr/>
        </p:nvSpPr>
        <p:spPr>
          <a:xfrm>
            <a:off x="6062472" y="3566160"/>
            <a:ext cx="182880" cy="1828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9" name="Shape 77"/>
          <p:cNvSpPr/>
          <p:nvPr/>
        </p:nvSpPr>
        <p:spPr>
          <a:xfrm>
            <a:off x="6153912" y="3749040"/>
            <a:ext cx="0" cy="109728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0" name="Shape 78"/>
          <p:cNvSpPr/>
          <p:nvPr/>
        </p:nvSpPr>
        <p:spPr>
          <a:xfrm>
            <a:off x="6062472" y="3840480"/>
            <a:ext cx="182880" cy="1828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1" name="Shape 79"/>
          <p:cNvSpPr/>
          <p:nvPr/>
        </p:nvSpPr>
        <p:spPr>
          <a:xfrm>
            <a:off x="6153912" y="4023360"/>
            <a:ext cx="0" cy="137160"/>
          </a:xfrm>
          <a:prstGeom prst="line">
            <a:avLst/>
          </a:prstGeom>
          <a:noFill/>
          <a:ln w="12700">
            <a:solidFill>
              <a:srgbClr val="7C3AED"/>
            </a:solidFill>
            <a:prstDash val="dot"/>
          </a:ln>
        </p:spPr>
        <p:txBody>
          <a:bodyPr/>
          <a:lstStyle/>
          <a:p>
            <a:endParaRPr lang="en-CN"/>
          </a:p>
        </p:txBody>
      </p:sp>
      <p:sp>
        <p:nvSpPr>
          <p:cNvPr id="82" name="Shape 80"/>
          <p:cNvSpPr/>
          <p:nvPr/>
        </p:nvSpPr>
        <p:spPr>
          <a:xfrm>
            <a:off x="6044184" y="4178808"/>
            <a:ext cx="219456" cy="1828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3" name="Text 81"/>
          <p:cNvSpPr/>
          <p:nvPr/>
        </p:nvSpPr>
        <p:spPr>
          <a:xfrm>
            <a:off x="6044184" y="4178808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4645152" y="4352544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Rollout → Execute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4645152" y="4507992"/>
            <a:ext cx="2066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2–6 + SciPy code → Answer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7735824" y="676656"/>
            <a:ext cx="402336" cy="40233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7" name="Text 85"/>
          <p:cNvSpPr/>
          <p:nvPr/>
        </p:nvSpPr>
        <p:spPr>
          <a:xfrm>
            <a:off x="7735824" y="676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88" name="Text 86"/>
          <p:cNvSpPr/>
          <p:nvPr/>
        </p:nvSpPr>
        <p:spPr>
          <a:xfrm>
            <a:off x="6903720" y="1161288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6903720" y="1353312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</a:t>
            </a:r>
            <a:endParaRPr lang="en-US" sz="1100" dirty="0"/>
          </a:p>
        </p:txBody>
      </p:sp>
      <p:sp>
        <p:nvSpPr>
          <p:cNvPr id="90" name="Text 88"/>
          <p:cNvSpPr/>
          <p:nvPr/>
        </p:nvSpPr>
        <p:spPr>
          <a:xfrm>
            <a:off x="6940296" y="1591056"/>
            <a:ext cx="19933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N and Q for every node on the path. Uses confidence-weighted update: Q ← Q + ρ·(R−Q)/N, where ρ=exp(−U_global) dampens noisy evaluations.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7808976" y="2276856"/>
            <a:ext cx="256032" cy="256032"/>
          </a:xfrm>
          <a:prstGeom prst="ellipse">
            <a:avLst/>
          </a:prstGeom>
          <a:solidFill>
            <a:srgbClr val="CC333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2" name="Shape 90"/>
          <p:cNvSpPr/>
          <p:nvPr/>
        </p:nvSpPr>
        <p:spPr>
          <a:xfrm flipH="1">
            <a:off x="7690500" y="2532888"/>
            <a:ext cx="118465" cy="155448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3" name="Shape 91"/>
          <p:cNvSpPr/>
          <p:nvPr/>
        </p:nvSpPr>
        <p:spPr>
          <a:xfrm>
            <a:off x="7479792" y="2660904"/>
            <a:ext cx="219456" cy="219456"/>
          </a:xfrm>
          <a:prstGeom prst="ellipse">
            <a:avLst/>
          </a:prstGeom>
          <a:solidFill>
            <a:srgbClr val="CC333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4" name="Shape 92"/>
          <p:cNvSpPr/>
          <p:nvPr/>
        </p:nvSpPr>
        <p:spPr>
          <a:xfrm flipH="1">
            <a:off x="7461504" y="2852928"/>
            <a:ext cx="128016" cy="18288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5" name="Shape 93"/>
          <p:cNvSpPr/>
          <p:nvPr/>
        </p:nvSpPr>
        <p:spPr>
          <a:xfrm>
            <a:off x="7342632" y="3026664"/>
            <a:ext cx="182880" cy="182880"/>
          </a:xfrm>
          <a:prstGeom prst="ellipse">
            <a:avLst/>
          </a:prstGeom>
          <a:solidFill>
            <a:srgbClr val="CC333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6" name="Shape 94"/>
          <p:cNvSpPr/>
          <p:nvPr/>
        </p:nvSpPr>
        <p:spPr>
          <a:xfrm>
            <a:off x="7589520" y="2852928"/>
            <a:ext cx="164592" cy="18288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7" name="Shape 95"/>
          <p:cNvSpPr/>
          <p:nvPr/>
        </p:nvSpPr>
        <p:spPr>
          <a:xfrm>
            <a:off x="7662672" y="3026664"/>
            <a:ext cx="182880" cy="182880"/>
          </a:xfrm>
          <a:prstGeom prst="ellipse">
            <a:avLst/>
          </a:prstGeom>
          <a:solidFill>
            <a:srgbClr val="CC333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9" name="Shape 97"/>
          <p:cNvSpPr/>
          <p:nvPr/>
        </p:nvSpPr>
        <p:spPr>
          <a:xfrm>
            <a:off x="8174736" y="2660904"/>
            <a:ext cx="219456" cy="219456"/>
          </a:xfrm>
          <a:prstGeom prst="ellipse">
            <a:avLst/>
          </a:prstGeom>
          <a:solidFill>
            <a:srgbClr val="CC333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0" name="Shape 98"/>
          <p:cNvSpPr/>
          <p:nvPr/>
        </p:nvSpPr>
        <p:spPr>
          <a:xfrm flipH="1">
            <a:off x="8118035" y="2880360"/>
            <a:ext cx="111564" cy="155448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1" name="Shape 99"/>
          <p:cNvSpPr/>
          <p:nvPr/>
        </p:nvSpPr>
        <p:spPr>
          <a:xfrm>
            <a:off x="8046720" y="3026664"/>
            <a:ext cx="182880" cy="182880"/>
          </a:xfrm>
          <a:prstGeom prst="ellipse">
            <a:avLst/>
          </a:prstGeom>
          <a:solidFill>
            <a:srgbClr val="CC333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3" name="Shape 101"/>
          <p:cNvSpPr/>
          <p:nvPr/>
        </p:nvSpPr>
        <p:spPr>
          <a:xfrm>
            <a:off x="8284464" y="3017520"/>
            <a:ext cx="202156" cy="192024"/>
          </a:xfrm>
          <a:prstGeom prst="ellipse">
            <a:avLst/>
          </a:prstGeom>
          <a:solidFill>
            <a:srgbClr val="BBBBBB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5" name="Shape 103"/>
          <p:cNvSpPr/>
          <p:nvPr/>
        </p:nvSpPr>
        <p:spPr>
          <a:xfrm>
            <a:off x="8311896" y="3282696"/>
            <a:ext cx="201168" cy="201168"/>
          </a:xfrm>
          <a:prstGeom prst="ellipse">
            <a:avLst/>
          </a:prstGeom>
          <a:solidFill>
            <a:srgbClr val="3366C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7" name="Shape 105"/>
          <p:cNvSpPr/>
          <p:nvPr/>
        </p:nvSpPr>
        <p:spPr>
          <a:xfrm>
            <a:off x="8321040" y="3593592"/>
            <a:ext cx="182880" cy="1828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9" name="Shape 107"/>
          <p:cNvSpPr/>
          <p:nvPr/>
        </p:nvSpPr>
        <p:spPr>
          <a:xfrm>
            <a:off x="8321040" y="3886200"/>
            <a:ext cx="182880" cy="1828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0" name="Shape 108"/>
          <p:cNvSpPr/>
          <p:nvPr/>
        </p:nvSpPr>
        <p:spPr>
          <a:xfrm>
            <a:off x="8412480" y="4069080"/>
            <a:ext cx="0" cy="137160"/>
          </a:xfrm>
          <a:prstGeom prst="line">
            <a:avLst/>
          </a:prstGeom>
          <a:noFill/>
          <a:ln w="12700">
            <a:solidFill>
              <a:srgbClr val="888888"/>
            </a:solidFill>
            <a:prstDash val="dot"/>
          </a:ln>
        </p:spPr>
        <p:txBody>
          <a:bodyPr/>
          <a:lstStyle/>
          <a:p>
            <a:endParaRPr lang="en-CN"/>
          </a:p>
        </p:txBody>
      </p:sp>
      <p:sp>
        <p:nvSpPr>
          <p:cNvPr id="111" name="Shape 109"/>
          <p:cNvSpPr/>
          <p:nvPr/>
        </p:nvSpPr>
        <p:spPr>
          <a:xfrm>
            <a:off x="8302752" y="4224528"/>
            <a:ext cx="219456" cy="1828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2" name="Text 110"/>
          <p:cNvSpPr/>
          <p:nvPr/>
        </p:nvSpPr>
        <p:spPr>
          <a:xfrm>
            <a:off x="8302752" y="4224528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000" dirty="0"/>
          </a:p>
        </p:txBody>
      </p:sp>
      <p:sp>
        <p:nvSpPr>
          <p:cNvPr id="113" name="Shape 111"/>
          <p:cNvSpPr/>
          <p:nvPr/>
        </p:nvSpPr>
        <p:spPr>
          <a:xfrm>
            <a:off x="8412480" y="3950208"/>
            <a:ext cx="0" cy="0"/>
          </a:xfrm>
          <a:prstGeom prst="line">
            <a:avLst/>
          </a:prstGeom>
          <a:noFill/>
          <a:ln w="12700">
            <a:solidFill>
              <a:srgbClr val="8844B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5" name="Shape 113"/>
          <p:cNvSpPr/>
          <p:nvPr/>
        </p:nvSpPr>
        <p:spPr>
          <a:xfrm>
            <a:off x="8412480" y="3657600"/>
            <a:ext cx="0" cy="0"/>
          </a:xfrm>
          <a:prstGeom prst="line">
            <a:avLst/>
          </a:prstGeom>
          <a:noFill/>
          <a:ln w="12700">
            <a:solidFill>
              <a:srgbClr val="8844B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7" name="Shape 115"/>
          <p:cNvSpPr/>
          <p:nvPr/>
        </p:nvSpPr>
        <p:spPr>
          <a:xfrm>
            <a:off x="8412480" y="3383280"/>
            <a:ext cx="0" cy="0"/>
          </a:xfrm>
          <a:prstGeom prst="line">
            <a:avLst/>
          </a:prstGeom>
          <a:noFill/>
          <a:ln w="12700">
            <a:solidFill>
              <a:srgbClr val="8844B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9" name="Shape 117"/>
          <p:cNvSpPr/>
          <p:nvPr/>
        </p:nvSpPr>
        <p:spPr>
          <a:xfrm>
            <a:off x="8412480" y="3099816"/>
            <a:ext cx="0" cy="0"/>
          </a:xfrm>
          <a:prstGeom prst="line">
            <a:avLst/>
          </a:prstGeom>
          <a:noFill/>
          <a:ln w="12700">
            <a:solidFill>
              <a:srgbClr val="8844B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1" name="Shape 119"/>
          <p:cNvSpPr/>
          <p:nvPr/>
        </p:nvSpPr>
        <p:spPr>
          <a:xfrm>
            <a:off x="8302752" y="2852928"/>
            <a:ext cx="0" cy="0"/>
          </a:xfrm>
          <a:prstGeom prst="line">
            <a:avLst/>
          </a:prstGeom>
          <a:noFill/>
          <a:ln w="12700">
            <a:solidFill>
              <a:srgbClr val="8844B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3" name="Shape 121"/>
          <p:cNvSpPr/>
          <p:nvPr/>
        </p:nvSpPr>
        <p:spPr>
          <a:xfrm>
            <a:off x="8083296" y="2688336"/>
            <a:ext cx="0" cy="0"/>
          </a:xfrm>
          <a:prstGeom prst="line">
            <a:avLst/>
          </a:prstGeom>
          <a:noFill/>
          <a:ln w="12700">
            <a:solidFill>
              <a:srgbClr val="8844B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5" name="Text 123"/>
          <p:cNvSpPr/>
          <p:nvPr/>
        </p:nvSpPr>
        <p:spPr>
          <a:xfrm>
            <a:off x="6903720" y="4462272"/>
            <a:ext cx="2066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N, Q along path</a:t>
            </a:r>
            <a:endParaRPr lang="en-US" sz="800" dirty="0"/>
          </a:p>
        </p:txBody>
      </p:sp>
      <p:sp>
        <p:nvSpPr>
          <p:cNvPr id="126" name="Text 124"/>
          <p:cNvSpPr/>
          <p:nvPr/>
        </p:nvSpPr>
        <p:spPr>
          <a:xfrm>
            <a:off x="6903720" y="4636008"/>
            <a:ext cx="2066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i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← Q + ρ·(R−Q)/N</a:t>
            </a:r>
            <a:endParaRPr lang="en-US" sz="800" dirty="0"/>
          </a:p>
        </p:txBody>
      </p:sp>
      <p:sp>
        <p:nvSpPr>
          <p:cNvPr id="127" name="Shape 125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8" name="Text 126"/>
          <p:cNvSpPr/>
          <p:nvPr/>
        </p:nvSpPr>
        <p:spPr>
          <a:xfrm>
            <a:off x="182880" y="4956048"/>
            <a:ext cx="8778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runs for T=20 iterations per problem  ·  Early stop when R=1.0 (predicted answer matches ground truth ±10%)  ·  Exploration constant C=2.0  ·  Uncertainty threshold η=0.3</a:t>
            </a:r>
            <a:endParaRPr lang="en-US" sz="800" dirty="0"/>
          </a:p>
        </p:txBody>
      </p: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056F32FB-8CB2-6B9B-CEAF-78BB45A412C9}"/>
              </a:ext>
            </a:extLst>
          </p:cNvPr>
          <p:cNvCxnSpPr>
            <a:cxnSpLocks/>
            <a:stCxn id="22" idx="6"/>
            <a:endCxn id="24" idx="2"/>
          </p:cNvCxnSpPr>
          <p:nvPr/>
        </p:nvCxnSpPr>
        <p:spPr>
          <a:xfrm flipV="1">
            <a:off x="1444752" y="3246120"/>
            <a:ext cx="224028" cy="18288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57FAE830-2E21-68D1-6B44-85D623064D14}"/>
              </a:ext>
            </a:extLst>
          </p:cNvPr>
          <p:cNvCxnSpPr>
            <a:cxnSpLocks/>
            <a:stCxn id="109" idx="0"/>
          </p:cNvCxnSpPr>
          <p:nvPr/>
        </p:nvCxnSpPr>
        <p:spPr>
          <a:xfrm flipV="1">
            <a:off x="8412480" y="3758184"/>
            <a:ext cx="9886" cy="128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364C3265-9078-D460-1FB4-37ABD1353544}"/>
              </a:ext>
            </a:extLst>
          </p:cNvPr>
          <p:cNvCxnSpPr/>
          <p:nvPr/>
        </p:nvCxnSpPr>
        <p:spPr>
          <a:xfrm flipV="1">
            <a:off x="8411656" y="3480322"/>
            <a:ext cx="0" cy="109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0FCD2A0D-1A53-BFB1-48B8-B22401F14256}"/>
              </a:ext>
            </a:extLst>
          </p:cNvPr>
          <p:cNvCxnSpPr/>
          <p:nvPr/>
        </p:nvCxnSpPr>
        <p:spPr>
          <a:xfrm flipV="1">
            <a:off x="8411656" y="3191256"/>
            <a:ext cx="0" cy="109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7E2D6522-09F6-C775-6C4F-5416C148F3E7}"/>
              </a:ext>
            </a:extLst>
          </p:cNvPr>
          <p:cNvCxnSpPr>
            <a:cxnSpLocks/>
          </p:cNvCxnSpPr>
          <p:nvPr/>
        </p:nvCxnSpPr>
        <p:spPr>
          <a:xfrm flipH="1" flipV="1">
            <a:off x="8333314" y="2871216"/>
            <a:ext cx="60877" cy="1188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FFD86587-B26F-B07A-3915-F5426C4595F3}"/>
              </a:ext>
            </a:extLst>
          </p:cNvPr>
          <p:cNvCxnSpPr>
            <a:cxnSpLocks/>
            <a:stCxn id="99" idx="1"/>
          </p:cNvCxnSpPr>
          <p:nvPr/>
        </p:nvCxnSpPr>
        <p:spPr>
          <a:xfrm flipH="1" flipV="1">
            <a:off x="8037576" y="2478024"/>
            <a:ext cx="169299" cy="215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20DC0054-CAE2-5ED6-41AD-76CA4E4ACE15}"/>
              </a:ext>
            </a:extLst>
          </p:cNvPr>
          <p:cNvCxnSpPr>
            <a:stCxn id="47" idx="4"/>
            <a:endCxn id="51" idx="0"/>
          </p:cNvCxnSpPr>
          <p:nvPr/>
        </p:nvCxnSpPr>
        <p:spPr>
          <a:xfrm flipH="1">
            <a:off x="3946239" y="3355848"/>
            <a:ext cx="3969" cy="2091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F907C541-8BE4-E462-641C-82F1D4C3AF65}"/>
              </a:ext>
            </a:extLst>
          </p:cNvPr>
          <p:cNvCxnSpPr>
            <a:cxnSpLocks/>
            <a:endCxn id="53" idx="0"/>
          </p:cNvCxnSpPr>
          <p:nvPr/>
        </p:nvCxnSpPr>
        <p:spPr>
          <a:xfrm>
            <a:off x="4059038" y="3330776"/>
            <a:ext cx="183778" cy="1896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C3B3455F-AEC9-9679-79FA-81A92BF699AC}"/>
              </a:ext>
            </a:extLst>
          </p:cNvPr>
          <p:cNvCxnSpPr>
            <a:cxnSpLocks/>
            <a:endCxn id="49" idx="0"/>
          </p:cNvCxnSpPr>
          <p:nvPr/>
        </p:nvCxnSpPr>
        <p:spPr>
          <a:xfrm flipH="1">
            <a:off x="3657600" y="3355848"/>
            <a:ext cx="166878" cy="1645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Text 52">
            <a:extLst>
              <a:ext uri="{FF2B5EF4-FFF2-40B4-BE49-F238E27FC236}">
                <a16:creationId xmlns:a16="http://schemas.microsoft.com/office/drawing/2014/main" id="{34C7F36F-6A74-12F9-633C-601BC49D68F2}"/>
              </a:ext>
            </a:extLst>
          </p:cNvPr>
          <p:cNvSpPr/>
          <p:nvPr/>
        </p:nvSpPr>
        <p:spPr>
          <a:xfrm>
            <a:off x="418941" y="3712464"/>
            <a:ext cx="2715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UCB1 = Q + C · √( 2·ln(N_parent) / N )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" name="Text 2"/>
          <p:cNvSpPr/>
          <p:nvPr/>
        </p:nvSpPr>
        <p:spPr>
          <a:xfrm>
            <a:off x="502920" y="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NATURAL LANGUAGE TO ANSWER: THE FULL PIPELINE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71323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Problem Solving Pipeline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" y="1042416"/>
            <a:ext cx="14173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8" name="Shape 6"/>
          <p:cNvSpPr/>
          <p:nvPr/>
        </p:nvSpPr>
        <p:spPr>
          <a:xfrm>
            <a:off x="182880" y="1042416"/>
            <a:ext cx="1417320" cy="640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237744" y="1133856"/>
            <a:ext cx="1307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37744" y="1627632"/>
            <a:ext cx="13075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factory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produces…"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44068" y="2368296"/>
            <a:ext cx="694944" cy="210312"/>
          </a:xfrm>
          <a:prstGeom prst="roundRect">
            <a:avLst>
              <a:gd name="adj" fmla="val 21739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" name="Text 10"/>
          <p:cNvSpPr/>
          <p:nvPr/>
        </p:nvSpPr>
        <p:spPr>
          <a:xfrm>
            <a:off x="544068" y="2368296"/>
            <a:ext cx="694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600200" y="1673352"/>
            <a:ext cx="73152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" name="Shape 12"/>
          <p:cNvSpPr/>
          <p:nvPr/>
        </p:nvSpPr>
        <p:spPr>
          <a:xfrm>
            <a:off x="1636776" y="1618488"/>
            <a:ext cx="54864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" name="Shape 13"/>
          <p:cNvSpPr/>
          <p:nvPr/>
        </p:nvSpPr>
        <p:spPr>
          <a:xfrm>
            <a:off x="1673352" y="1042416"/>
            <a:ext cx="15087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1B4F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6" name="Shape 14"/>
          <p:cNvSpPr/>
          <p:nvPr/>
        </p:nvSpPr>
        <p:spPr>
          <a:xfrm>
            <a:off x="1673352" y="1042416"/>
            <a:ext cx="1508760" cy="64008"/>
          </a:xfrm>
          <a:prstGeom prst="rect">
            <a:avLst/>
          </a:prstGeom>
          <a:solidFill>
            <a:srgbClr val="1B4F9C"/>
          </a:solidFill>
          <a:ln w="12700">
            <a:solidFill>
              <a:srgbClr val="1B4F9C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7" name="Text 15"/>
          <p:cNvSpPr/>
          <p:nvPr/>
        </p:nvSpPr>
        <p:spPr>
          <a:xfrm>
            <a:off x="1728216" y="1133856"/>
            <a:ext cx="1399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4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B4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Interpret-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B4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728216" y="1627632"/>
            <a:ext cx="13990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entities,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relations, goals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080260" y="2368296"/>
            <a:ext cx="694944" cy="210312"/>
          </a:xfrm>
          <a:prstGeom prst="roundRect">
            <a:avLst>
              <a:gd name="adj" fmla="val 21739"/>
            </a:avLst>
          </a:prstGeom>
          <a:solidFill>
            <a:srgbClr val="1B4F9C"/>
          </a:solidFill>
          <a:ln w="12700">
            <a:solidFill>
              <a:srgbClr val="1B4F9C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0" name="Text 18"/>
          <p:cNvSpPr/>
          <p:nvPr/>
        </p:nvSpPr>
        <p:spPr>
          <a:xfrm>
            <a:off x="2080260" y="2368296"/>
            <a:ext cx="694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182112" y="1673352"/>
            <a:ext cx="73152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2" name="Shape 20"/>
          <p:cNvSpPr/>
          <p:nvPr/>
        </p:nvSpPr>
        <p:spPr>
          <a:xfrm>
            <a:off x="3218688" y="1618488"/>
            <a:ext cx="54864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3" name="Shape 21"/>
          <p:cNvSpPr/>
          <p:nvPr/>
        </p:nvSpPr>
        <p:spPr>
          <a:xfrm>
            <a:off x="3255264" y="1042416"/>
            <a:ext cx="1691640" cy="1261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24" name="Shape 22"/>
          <p:cNvSpPr/>
          <p:nvPr/>
        </p:nvSpPr>
        <p:spPr>
          <a:xfrm>
            <a:off x="3255264" y="1042416"/>
            <a:ext cx="169164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5" name="Text 23"/>
          <p:cNvSpPr/>
          <p:nvPr/>
        </p:nvSpPr>
        <p:spPr>
          <a:xfrm>
            <a:off x="3310128" y="1133856"/>
            <a:ext cx="1581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310128" y="1627632"/>
            <a:ext cx="15819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Type, Sets, Params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4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Vars, Objective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4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753612" y="2368296"/>
            <a:ext cx="694944" cy="210312"/>
          </a:xfrm>
          <a:prstGeom prst="roundRect">
            <a:avLst>
              <a:gd name="adj" fmla="val 2173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8" name="Text 26"/>
          <p:cNvSpPr/>
          <p:nvPr/>
        </p:nvSpPr>
        <p:spPr>
          <a:xfrm>
            <a:off x="3753612" y="2368296"/>
            <a:ext cx="694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946904" y="1673352"/>
            <a:ext cx="73152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0" name="Shape 28"/>
          <p:cNvSpPr/>
          <p:nvPr/>
        </p:nvSpPr>
        <p:spPr>
          <a:xfrm>
            <a:off x="4983480" y="1618488"/>
            <a:ext cx="54864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1" name="Shape 29"/>
          <p:cNvSpPr/>
          <p:nvPr/>
        </p:nvSpPr>
        <p:spPr>
          <a:xfrm>
            <a:off x="5020056" y="1042416"/>
            <a:ext cx="15087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32" name="Shape 30"/>
          <p:cNvSpPr/>
          <p:nvPr/>
        </p:nvSpPr>
        <p:spPr>
          <a:xfrm>
            <a:off x="5020056" y="1042416"/>
            <a:ext cx="1508760" cy="6400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3" name="Text 31"/>
          <p:cNvSpPr/>
          <p:nvPr/>
        </p:nvSpPr>
        <p:spPr>
          <a:xfrm>
            <a:off x="5074920" y="1133856"/>
            <a:ext cx="1399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074920" y="1627632"/>
            <a:ext cx="13990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math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executable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 code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426964" y="2368296"/>
            <a:ext cx="694944" cy="210312"/>
          </a:xfrm>
          <a:prstGeom prst="roundRect">
            <a:avLst>
              <a:gd name="adj" fmla="val 21739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6" name="Text 34"/>
          <p:cNvSpPr/>
          <p:nvPr/>
        </p:nvSpPr>
        <p:spPr>
          <a:xfrm>
            <a:off x="5426964" y="2368296"/>
            <a:ext cx="694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528816" y="1673352"/>
            <a:ext cx="73152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8" name="Shape 36"/>
          <p:cNvSpPr/>
          <p:nvPr/>
        </p:nvSpPr>
        <p:spPr>
          <a:xfrm>
            <a:off x="6565392" y="1618488"/>
            <a:ext cx="54864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9" name="Shape 37"/>
          <p:cNvSpPr/>
          <p:nvPr/>
        </p:nvSpPr>
        <p:spPr>
          <a:xfrm>
            <a:off x="6601968" y="1042416"/>
            <a:ext cx="14173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40" name="Shape 38"/>
          <p:cNvSpPr/>
          <p:nvPr/>
        </p:nvSpPr>
        <p:spPr>
          <a:xfrm>
            <a:off x="6601968" y="1042416"/>
            <a:ext cx="141732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1" name="Text 39"/>
          <p:cNvSpPr/>
          <p:nvPr/>
        </p:nvSpPr>
        <p:spPr>
          <a:xfrm>
            <a:off x="6656832" y="1133856"/>
            <a:ext cx="1307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Answer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656832" y="1627632"/>
            <a:ext cx="13075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code,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value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963156" y="2368296"/>
            <a:ext cx="694944" cy="210312"/>
          </a:xfrm>
          <a:prstGeom prst="roundRect">
            <a:avLst>
              <a:gd name="adj" fmla="val 21739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4" name="Text 42"/>
          <p:cNvSpPr/>
          <p:nvPr/>
        </p:nvSpPr>
        <p:spPr>
          <a:xfrm>
            <a:off x="6963156" y="2368296"/>
            <a:ext cx="694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255264" y="2633472"/>
            <a:ext cx="1691640" cy="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6" name="Shape 44"/>
          <p:cNvSpPr/>
          <p:nvPr/>
        </p:nvSpPr>
        <p:spPr>
          <a:xfrm>
            <a:off x="3255264" y="2587752"/>
            <a:ext cx="0" cy="128016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7" name="Shape 45"/>
          <p:cNvSpPr/>
          <p:nvPr/>
        </p:nvSpPr>
        <p:spPr>
          <a:xfrm>
            <a:off x="4946904" y="2587752"/>
            <a:ext cx="0" cy="128016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8" name="Text 46"/>
          <p:cNvSpPr/>
          <p:nvPr/>
        </p:nvSpPr>
        <p:spPr>
          <a:xfrm>
            <a:off x="3163824" y="267004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MCTS operates here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74320" y="3090672"/>
            <a:ext cx="8595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0" name="Text 48"/>
          <p:cNvSpPr/>
          <p:nvPr/>
        </p:nvSpPr>
        <p:spPr>
          <a:xfrm>
            <a:off x="274320" y="3163824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Replace Single-Pass Formulation with MCTS?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74320" y="3493008"/>
            <a:ext cx="393192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52" name="Shape 50"/>
          <p:cNvSpPr/>
          <p:nvPr/>
        </p:nvSpPr>
        <p:spPr>
          <a:xfrm>
            <a:off x="274320" y="3493008"/>
            <a:ext cx="393192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3" name="Text 51"/>
          <p:cNvSpPr/>
          <p:nvPr/>
        </p:nvSpPr>
        <p:spPr>
          <a:xfrm>
            <a:off x="384048" y="356616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 Baseline — Single Pass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84048" y="3858768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Generates the entire formulation in one LLM call.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84048" y="411937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 wrong early decision (e.g. LP instead of MILP)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84048" y="4379976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propagates through the full pipeline — no recovery.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84048" y="464058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exploration of alternative formulation strategies.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315968" y="4023360"/>
            <a:ext cx="512064" cy="512064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9" name="Text 57"/>
          <p:cNvSpPr/>
          <p:nvPr/>
        </p:nvSpPr>
        <p:spPr>
          <a:xfrm>
            <a:off x="4315968" y="4023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937760" y="3493008"/>
            <a:ext cx="393192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61" name="Shape 59"/>
          <p:cNvSpPr/>
          <p:nvPr/>
        </p:nvSpPr>
        <p:spPr>
          <a:xfrm>
            <a:off x="4937760" y="3493008"/>
            <a:ext cx="393192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2" name="Text 60"/>
          <p:cNvSpPr/>
          <p:nvPr/>
        </p:nvSpPr>
        <p:spPr>
          <a:xfrm>
            <a:off x="5047488" y="356616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MCTS — Iterative Search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047488" y="3858768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Decomposes formulation into 6 searchable layers.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047488" y="411937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Explores multiple alternative choices per layer.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047488" y="4379976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Exploits feedback to refine promising paths.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047488" y="464058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Can revise earlier decisions when errors are detected.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" name="Text 2"/>
          <p:cNvSpPr/>
          <p:nvPr/>
        </p:nvSpPr>
        <p:spPr>
          <a:xfrm>
            <a:off x="502920" y="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KEY INNOVATIONS OF MCTS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1168" y="749808"/>
            <a:ext cx="278892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B4F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7" name="Shape 5"/>
          <p:cNvSpPr/>
          <p:nvPr/>
        </p:nvSpPr>
        <p:spPr>
          <a:xfrm>
            <a:off x="201168" y="749808"/>
            <a:ext cx="2788920" cy="658368"/>
          </a:xfrm>
          <a:prstGeom prst="rect">
            <a:avLst/>
          </a:prstGeom>
          <a:solidFill>
            <a:srgbClr val="1B4F9C"/>
          </a:solidFill>
          <a:ln w="12700">
            <a:solidFill>
              <a:srgbClr val="1B4F9C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" name="Text 6"/>
          <p:cNvSpPr/>
          <p:nvPr/>
        </p:nvSpPr>
        <p:spPr>
          <a:xfrm>
            <a:off x="292608" y="795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10896" y="10789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Expansion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" y="1499616"/>
            <a:ext cx="2532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MCTS expands only leaf nodes.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47472" y="1856232"/>
            <a:ext cx="2532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SolverLLM expands any node where trigger=True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47472" y="2212848"/>
            <a:ext cx="2532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local_uncertainty &gt; η (η = 0.3).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47472" y="2569464"/>
            <a:ext cx="2532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early layer revision (e.g. problem type)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47472" y="2926080"/>
            <a:ext cx="2532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evaluator flags a specific layer as flawed.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47472" y="3282696"/>
            <a:ext cx="2532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children per node: 5 · Similarity pruning: 0.8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10896" y="4498848"/>
            <a:ext cx="2569464" cy="310896"/>
          </a:xfrm>
          <a:prstGeom prst="roundRect">
            <a:avLst>
              <a:gd name="adj" fmla="val 17647"/>
            </a:avLst>
          </a:prstGeom>
          <a:solidFill>
            <a:srgbClr val="1B4F9C">
              <a:alpha val="12000"/>
            </a:srgbClr>
          </a:solidFill>
          <a:ln w="12700">
            <a:solidFill>
              <a:srgbClr val="1B4F9C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7" name="Text 15"/>
          <p:cNvSpPr/>
          <p:nvPr/>
        </p:nvSpPr>
        <p:spPr>
          <a:xfrm>
            <a:off x="338328" y="449884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4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trigger=True  AND  U_local &gt; 0.3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182112" y="749808"/>
            <a:ext cx="278892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9" name="Shape 17"/>
          <p:cNvSpPr/>
          <p:nvPr/>
        </p:nvSpPr>
        <p:spPr>
          <a:xfrm>
            <a:off x="3182112" y="749808"/>
            <a:ext cx="2788920" cy="65836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0" name="Text 18"/>
          <p:cNvSpPr/>
          <p:nvPr/>
        </p:nvSpPr>
        <p:spPr>
          <a:xfrm>
            <a:off x="3273552" y="795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291840" y="10789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Backpropagation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28416" y="1499616"/>
            <a:ext cx="2532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each simulation the LLM evaluates all 6 layers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28416" y="1856232"/>
            <a:ext cx="2532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emits a (trigger, explanation, guidance) triplet.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28416" y="2212848"/>
            <a:ext cx="2532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strings accumulate in a per-layer knowledge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328416" y="2569464"/>
            <a:ext cx="2532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(capped at </a:t>
            </a:r>
            <a:r>
              <a:rPr lang="en-US" altLang="zh-CN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r>
              <a:rPr lang="zh-CN" alt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entries). During expansion, the 3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328416" y="2926080"/>
            <a:ext cx="2532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recent entries are injected into the prompt,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328416" y="3282696"/>
            <a:ext cx="2532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the LLM toward known improvements.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91840" y="4498848"/>
            <a:ext cx="2569464" cy="310896"/>
          </a:xfrm>
          <a:prstGeom prst="roundRect">
            <a:avLst>
              <a:gd name="adj" fmla="val 17647"/>
            </a:avLst>
          </a:prstGeom>
          <a:solidFill>
            <a:srgbClr val="0E7C86">
              <a:alpha val="12000"/>
            </a:srgbClr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9" name="Text 27"/>
          <p:cNvSpPr/>
          <p:nvPr/>
        </p:nvSpPr>
        <p:spPr>
          <a:xfrm>
            <a:off x="3319272" y="449884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7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G_l ← G_l + {guidance}  (|G_l| ≤ 10)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163056" y="749808"/>
            <a:ext cx="278892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31" name="Shape 29"/>
          <p:cNvSpPr/>
          <p:nvPr/>
        </p:nvSpPr>
        <p:spPr>
          <a:xfrm>
            <a:off x="6163056" y="749808"/>
            <a:ext cx="2788920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2" name="Text 30"/>
          <p:cNvSpPr/>
          <p:nvPr/>
        </p:nvSpPr>
        <p:spPr>
          <a:xfrm>
            <a:off x="6254496" y="795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272784" y="10789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Backpropagation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09360" y="1499616"/>
            <a:ext cx="2532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reward is replaced by a confidence-weighted update.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309360" y="1856232"/>
            <a:ext cx="2532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K=3 LLM evaluations at temp=0.5 estimate U_global.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309360" y="2212848"/>
            <a:ext cx="2532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factor ρ = exp(−U_global) dampens noisy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309360" y="2569464"/>
            <a:ext cx="2532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when the evaluator is inconsistent.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309360" y="2926080"/>
            <a:ext cx="2532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agreement → ρ ≈ 1 (full update).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309360" y="3282696"/>
            <a:ext cx="2532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variance → ρ ≈ 0 (dampened update).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272784" y="4498848"/>
            <a:ext cx="2569464" cy="310896"/>
          </a:xfrm>
          <a:prstGeom prst="roundRect">
            <a:avLst>
              <a:gd name="adj" fmla="val 17647"/>
            </a:avLst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1" name="Text 39"/>
          <p:cNvSpPr/>
          <p:nvPr/>
        </p:nvSpPr>
        <p:spPr>
          <a:xfrm>
            <a:off x="6300216" y="449884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← Q + ρ · (R − Q) / N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01168" y="4846320"/>
            <a:ext cx="8741664" cy="20116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3" name="Text 41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Reward:  R = 0.1 · feasible  +  0.8 · score  −  0.1 · error     |     Override to R=1.0 when predicted answer matches ground truth (±10%)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>
            <a:extLst>
              <a:ext uri="{FF2B5EF4-FFF2-40B4-BE49-F238E27FC236}">
                <a16:creationId xmlns:a16="http://schemas.microsoft.com/office/drawing/2014/main" id="{C14A2A46-882D-6524-A5CF-3A1EC59E14DE}"/>
              </a:ext>
            </a:extLst>
          </p:cNvPr>
          <p:cNvSpPr/>
          <p:nvPr/>
        </p:nvSpPr>
        <p:spPr>
          <a:xfrm>
            <a:off x="-13891" y="0"/>
            <a:ext cx="379071" cy="5669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2DC35439-F5EB-597E-A658-E465EAA8FF28}"/>
              </a:ext>
            </a:extLst>
          </p:cNvPr>
          <p:cNvSpPr/>
          <p:nvPr/>
        </p:nvSpPr>
        <p:spPr>
          <a:xfrm>
            <a:off x="365181" y="0"/>
            <a:ext cx="8870258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</a:t>
            </a:r>
            <a:r>
              <a:rPr lang="zh-CN" alt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COMPARISION</a:t>
            </a:r>
            <a:endParaRPr lang="en-C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1B7154-98D0-7A21-E2A9-EE268BEF83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52" y="694451"/>
            <a:ext cx="6834273" cy="35456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F588F6C-1292-7416-4007-4C37FE2A56BA}"/>
              </a:ext>
            </a:extLst>
          </p:cNvPr>
          <p:cNvSpPr txBox="1"/>
          <p:nvPr/>
        </p:nvSpPr>
        <p:spPr>
          <a:xfrm>
            <a:off x="365180" y="4240132"/>
            <a:ext cx="7054192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/>
              <a:t>Result</a:t>
            </a:r>
            <a:r>
              <a:rPr lang="zh-CN" altLang="en-US" sz="1100" b="1" dirty="0"/>
              <a:t>：</a:t>
            </a:r>
            <a:r>
              <a:rPr lang="en-US" sz="1100" b="1" dirty="0"/>
              <a:t> </a:t>
            </a:r>
            <a:r>
              <a:rPr lang="en-US" sz="1100" b="1" dirty="0" err="1"/>
              <a:t>OptMCTS</a:t>
            </a:r>
            <a:r>
              <a:rPr lang="en-US" sz="1100" b="1" dirty="0"/>
              <a:t> outperforms the </a:t>
            </a:r>
            <a:r>
              <a:rPr lang="en-US" sz="1100" b="1" dirty="0" err="1"/>
              <a:t>CoE</a:t>
            </a:r>
            <a:r>
              <a:rPr lang="en-US" sz="1100" b="1" dirty="0"/>
              <a:t> baseline on all four datasets:</a:t>
            </a:r>
          </a:p>
          <a:p>
            <a:r>
              <a:rPr lang="en-US" sz="1100" dirty="0"/>
              <a:t>                - complexor：33.3% → 55.6%（</a:t>
            </a:r>
            <a:r>
              <a:rPr lang="en-US" altLang="zh-CN" sz="1100" dirty="0"/>
              <a:t> The biggest improvement is in the difficulty. </a:t>
            </a:r>
            <a:r>
              <a:rPr lang="zh-CN" altLang="en-US" sz="1100" dirty="0"/>
              <a:t>）                </a:t>
            </a:r>
          </a:p>
          <a:p>
            <a:r>
              <a:rPr lang="zh-CN" altLang="en-US" sz="1100" dirty="0"/>
              <a:t> </a:t>
            </a:r>
            <a:r>
              <a:rPr lang="en-US" altLang="zh-CN" sz="1100" dirty="0"/>
              <a:t>              </a:t>
            </a:r>
            <a:r>
              <a:rPr lang="zh-CN" altLang="en-US" sz="1100" dirty="0"/>
              <a:t> </a:t>
            </a:r>
            <a:r>
              <a:rPr lang="en-US" altLang="zh-CN" sz="1100" dirty="0"/>
              <a:t>- </a:t>
            </a:r>
            <a:r>
              <a:rPr lang="en-US" sz="1100" dirty="0"/>
              <a:t>mamo_easy：57.4% → 77.9%                                                     </a:t>
            </a:r>
          </a:p>
          <a:p>
            <a:r>
              <a:rPr lang="en-US" sz="1100" dirty="0"/>
              <a:t>                - nl4opt：68.3% → 75.7%                                   </a:t>
            </a:r>
          </a:p>
          <a:p>
            <a:r>
              <a:rPr lang="en-US" sz="1100" dirty="0"/>
              <a:t>               - nlp4lp：64.5% → 83.5%</a:t>
            </a:r>
            <a:endParaRPr lang="en-CN" sz="1100" dirty="0"/>
          </a:p>
        </p:txBody>
      </p:sp>
    </p:spTree>
    <p:extLst>
      <p:ext uri="{BB962C8B-B14F-4D97-AF65-F5344CB8AC3E}">
        <p14:creationId xmlns:p14="http://schemas.microsoft.com/office/powerpoint/2010/main" val="41944877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>
            <a:extLst>
              <a:ext uri="{FF2B5EF4-FFF2-40B4-BE49-F238E27FC236}">
                <a16:creationId xmlns:a16="http://schemas.microsoft.com/office/drawing/2014/main" id="{ADD5808B-280D-B0D4-8FD6-5EA9918AA465}"/>
              </a:ext>
            </a:extLst>
          </p:cNvPr>
          <p:cNvSpPr/>
          <p:nvPr/>
        </p:nvSpPr>
        <p:spPr>
          <a:xfrm>
            <a:off x="-13891" y="0"/>
            <a:ext cx="379071" cy="5669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6BC4D2E5-EAFC-836A-C25B-6A736F792467}"/>
              </a:ext>
            </a:extLst>
          </p:cNvPr>
          <p:cNvSpPr/>
          <p:nvPr/>
        </p:nvSpPr>
        <p:spPr>
          <a:xfrm>
            <a:off x="365181" y="0"/>
            <a:ext cx="8870258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</a:t>
            </a:r>
            <a:r>
              <a:rPr lang="zh-CN" alt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COMPARISION</a:t>
            </a:r>
            <a:endParaRPr lang="en-C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AC2E4F-FF63-7085-D6F8-2C1BC3ED7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644" y="566928"/>
            <a:ext cx="7798443" cy="37521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1F9718C-705A-6FDE-C217-C3E0C294737A}"/>
              </a:ext>
            </a:extLst>
          </p:cNvPr>
          <p:cNvSpPr txBox="1"/>
          <p:nvPr/>
        </p:nvSpPr>
        <p:spPr>
          <a:xfrm>
            <a:off x="461541" y="4147348"/>
            <a:ext cx="88702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The </a:t>
            </a:r>
            <a:r>
              <a:rPr lang="en-US" sz="1200" dirty="0" err="1"/>
              <a:t>CoE</a:t>
            </a:r>
            <a:r>
              <a:rPr lang="en-US" sz="1200" dirty="0"/>
              <a:t> baseline has an ER% of 100% (because it has more rounds of fixes)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/>
              <a:t>OptMCTS</a:t>
            </a:r>
            <a:r>
              <a:rPr lang="en-US" sz="1200" dirty="0"/>
              <a:t> has a slightly lower ER% (79.9%~99.6%).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This indicates that the code generation quality of some branches during the MCTS search process is slightly worse, but although fewer branches run successfully, more branches run correctly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This is precisely the value of MCTS search: it is willing to abandon some paths to focus on finding better modeling solutions.</a:t>
            </a:r>
            <a:endParaRPr lang="en-CN" sz="1200" dirty="0"/>
          </a:p>
        </p:txBody>
      </p:sp>
    </p:spTree>
    <p:extLst>
      <p:ext uri="{BB962C8B-B14F-4D97-AF65-F5344CB8AC3E}">
        <p14:creationId xmlns:p14="http://schemas.microsoft.com/office/powerpoint/2010/main" val="40101799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>
            <a:extLst>
              <a:ext uri="{FF2B5EF4-FFF2-40B4-BE49-F238E27FC236}">
                <a16:creationId xmlns:a16="http://schemas.microsoft.com/office/drawing/2014/main" id="{E540DD0E-7CE5-C411-DFF0-1463C27495F3}"/>
              </a:ext>
            </a:extLst>
          </p:cNvPr>
          <p:cNvSpPr/>
          <p:nvPr/>
        </p:nvSpPr>
        <p:spPr>
          <a:xfrm>
            <a:off x="-13891" y="0"/>
            <a:ext cx="379071" cy="5669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7BAB2E19-8898-3BD3-357A-89D40BCC9EE9}"/>
              </a:ext>
            </a:extLst>
          </p:cNvPr>
          <p:cNvSpPr/>
          <p:nvPr/>
        </p:nvSpPr>
        <p:spPr>
          <a:xfrm>
            <a:off x="365181" y="0"/>
            <a:ext cx="8870258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</a:t>
            </a:r>
            <a:r>
              <a:rPr lang="zh-CN" alt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COMPARISION</a:t>
            </a:r>
            <a:endParaRPr lang="en-C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2C45D2-D14B-671C-0B36-AC45C320C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699950"/>
            <a:ext cx="6258140" cy="32192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422C6F2-82C7-9923-4A42-B1C2CBCF09B6}"/>
              </a:ext>
            </a:extLst>
          </p:cNvPr>
          <p:cNvSpPr txBox="1"/>
          <p:nvPr/>
        </p:nvSpPr>
        <p:spPr>
          <a:xfrm>
            <a:off x="625033" y="3919236"/>
            <a:ext cx="71763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Meaning: Essentially the same as SA% but uses absolute numbers to visually show how many more questions were answered correctly for each dataset.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 Per-dataset SA% improvement of </a:t>
            </a:r>
            <a:r>
              <a:rPr lang="en-US" sz="1200" dirty="0" err="1"/>
              <a:t>OptMCTS</a:t>
            </a:r>
            <a:r>
              <a:rPr lang="en-US" sz="1200" dirty="0"/>
              <a:t> over </a:t>
            </a:r>
            <a:r>
              <a:rPr lang="en-US" sz="1200" dirty="0" err="1"/>
              <a:t>CoE</a:t>
            </a:r>
            <a:r>
              <a:rPr lang="en-US" sz="1200" dirty="0"/>
              <a:t>, in percentage points (pp)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All four datasets show positive gains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Ranges from +7.4 pp (nl4opt) to +22.2 pp (</a:t>
            </a:r>
            <a:r>
              <a:rPr lang="en-US" sz="1200" dirty="0" err="1"/>
              <a:t>complexor</a:t>
            </a:r>
            <a:r>
              <a:rPr lang="en-US" sz="12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Demonstrates consistent benefit of MCTS-guided formulation search </a:t>
            </a:r>
          </a:p>
        </p:txBody>
      </p:sp>
    </p:spTree>
    <p:extLst>
      <p:ext uri="{BB962C8B-B14F-4D97-AF65-F5344CB8AC3E}">
        <p14:creationId xmlns:p14="http://schemas.microsoft.com/office/powerpoint/2010/main" val="40181608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3B42D96-738D-48F3-12A3-37E21A96B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456" y="997759"/>
            <a:ext cx="7772400" cy="2796168"/>
          </a:xfrm>
          <a:prstGeom prst="rect">
            <a:avLst/>
          </a:prstGeom>
        </p:spPr>
      </p:pic>
      <p:sp>
        <p:nvSpPr>
          <p:cNvPr id="3" name="Shape 1">
            <a:extLst>
              <a:ext uri="{FF2B5EF4-FFF2-40B4-BE49-F238E27FC236}">
                <a16:creationId xmlns:a16="http://schemas.microsoft.com/office/drawing/2014/main" id="{D889A741-C61F-D614-027D-8432AB2DA45F}"/>
              </a:ext>
            </a:extLst>
          </p:cNvPr>
          <p:cNvSpPr/>
          <p:nvPr/>
        </p:nvSpPr>
        <p:spPr>
          <a:xfrm>
            <a:off x="0" y="0"/>
            <a:ext cx="379071" cy="5669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00150DBB-5989-FB82-B32C-6C4DCE55D1E5}"/>
              </a:ext>
            </a:extLst>
          </p:cNvPr>
          <p:cNvSpPr/>
          <p:nvPr/>
        </p:nvSpPr>
        <p:spPr>
          <a:xfrm>
            <a:off x="365181" y="0"/>
            <a:ext cx="8870258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</a:t>
            </a:r>
            <a:r>
              <a:rPr lang="zh-CN" alt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COMPARISION</a:t>
            </a:r>
            <a:endParaRPr lang="en-C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259E64-A622-92B3-38D6-6411448CC9CD}"/>
              </a:ext>
            </a:extLst>
          </p:cNvPr>
          <p:cNvSpPr txBox="1"/>
          <p:nvPr/>
        </p:nvSpPr>
        <p:spPr>
          <a:xfrm>
            <a:off x="365181" y="4224758"/>
            <a:ext cx="597477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Overall SA%: 60.7% (</a:t>
            </a:r>
            <a:r>
              <a:rPr lang="en-US" sz="1400" dirty="0" err="1"/>
              <a:t>CoE</a:t>
            </a:r>
            <a:r>
              <a:rPr lang="en-US" sz="1400" dirty="0"/>
              <a:t>) → 78.3% (</a:t>
            </a:r>
            <a:r>
              <a:rPr lang="en-US" sz="1400" dirty="0" err="1"/>
              <a:t>OptMCTS</a:t>
            </a:r>
            <a:r>
              <a:rPr lang="en-US" sz="1400" dirty="0"/>
              <a:t>), +17.6 pp gain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Overall ER%: 100.0% → 85.6%, as MCTS explores diverse formulation paths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Total correct: 693 → 894 out of 1142 problems </a:t>
            </a:r>
            <a:endParaRPr lang="en-CN" sz="1400" dirty="0"/>
          </a:p>
        </p:txBody>
      </p:sp>
    </p:spTree>
    <p:extLst>
      <p:ext uri="{BB962C8B-B14F-4D97-AF65-F5344CB8AC3E}">
        <p14:creationId xmlns:p14="http://schemas.microsoft.com/office/powerpoint/2010/main" val="7340849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>
            <a:extLst>
              <a:ext uri="{FF2B5EF4-FFF2-40B4-BE49-F238E27FC236}">
                <a16:creationId xmlns:a16="http://schemas.microsoft.com/office/drawing/2014/main" id="{EF80A8E8-F805-8CCB-67D7-49D56114D38A}"/>
              </a:ext>
            </a:extLst>
          </p:cNvPr>
          <p:cNvSpPr/>
          <p:nvPr/>
        </p:nvSpPr>
        <p:spPr>
          <a:xfrm>
            <a:off x="0" y="0"/>
            <a:ext cx="379071" cy="5669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6FF43EB7-F641-2D33-0113-6EE361B97CD8}"/>
              </a:ext>
            </a:extLst>
          </p:cNvPr>
          <p:cNvSpPr/>
          <p:nvPr/>
        </p:nvSpPr>
        <p:spPr>
          <a:xfrm>
            <a:off x="365181" y="0"/>
            <a:ext cx="8870258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</a:t>
            </a:r>
            <a:r>
              <a:rPr lang="zh-CN" alt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COMPARISION</a:t>
            </a:r>
            <a:endParaRPr lang="en-C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AA4D0C-A3B3-15B6-1CC8-3382B20E8F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034" y="566928"/>
            <a:ext cx="7347030" cy="37761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76FA9ED-A9C0-6760-EAAC-025FDF529E69}"/>
              </a:ext>
            </a:extLst>
          </p:cNvPr>
          <p:cNvSpPr txBox="1"/>
          <p:nvPr/>
        </p:nvSpPr>
        <p:spPr>
          <a:xfrm>
            <a:off x="821802" y="4343118"/>
            <a:ext cx="631977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000" dirty="0"/>
              <a:t>SA% measures the percentage of problems whose final answer matches the ground</a:t>
            </a:r>
            <a:r>
              <a:rPr lang="zh-CN" altLang="en-US" sz="1000" dirty="0"/>
              <a:t> </a:t>
            </a:r>
            <a:r>
              <a:rPr lang="en-US" altLang="zh-CN" sz="1000" dirty="0"/>
              <a:t>truth (within 10% relative error)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000" dirty="0" err="1"/>
              <a:t>OptMCTS</a:t>
            </a:r>
            <a:r>
              <a:rPr lang="en-US" altLang="zh-CN" sz="1000" dirty="0"/>
              <a:t> consistently outperforms </a:t>
            </a:r>
            <a:r>
              <a:rPr lang="en-US" altLang="zh-CN" sz="1000" dirty="0" err="1"/>
              <a:t>CoE</a:t>
            </a:r>
            <a:r>
              <a:rPr lang="en-US" altLang="zh-CN" sz="1000" dirty="0"/>
              <a:t> baseline across all four datasets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000" dirty="0"/>
              <a:t> Largest gain on </a:t>
            </a:r>
            <a:r>
              <a:rPr lang="en-US" altLang="zh-CN" sz="1000" dirty="0" err="1"/>
              <a:t>complexor</a:t>
            </a:r>
            <a:r>
              <a:rPr lang="en-US" altLang="zh-CN" sz="1000" dirty="0"/>
              <a:t> (+22.2 pp) and nlp4lp (+19.0 pp)</a:t>
            </a:r>
            <a:endParaRPr lang="en-CN" sz="1000" dirty="0"/>
          </a:p>
        </p:txBody>
      </p:sp>
    </p:spTree>
    <p:extLst>
      <p:ext uri="{BB962C8B-B14F-4D97-AF65-F5344CB8AC3E}">
        <p14:creationId xmlns:p14="http://schemas.microsoft.com/office/powerpoint/2010/main" val="37407718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0"/>
            <a:ext cx="9144000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CN" dirty="0"/>
          </a:p>
        </p:txBody>
      </p:sp>
      <p:sp>
        <p:nvSpPr>
          <p:cNvPr id="3" name="Shape 1"/>
          <p:cNvSpPr/>
          <p:nvPr/>
        </p:nvSpPr>
        <p:spPr>
          <a:xfrm>
            <a:off x="45141" y="0"/>
            <a:ext cx="320040" cy="5669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" name="Text 2"/>
          <p:cNvSpPr/>
          <p:nvPr/>
        </p:nvSpPr>
        <p:spPr>
          <a:xfrm>
            <a:off x="502920" y="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RESULTS &amp; CONCLUSIONS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1168" y="713232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B4F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7" name="Shape 5"/>
          <p:cNvSpPr/>
          <p:nvPr/>
        </p:nvSpPr>
        <p:spPr>
          <a:xfrm>
            <a:off x="201168" y="713232"/>
            <a:ext cx="2011680" cy="73152"/>
          </a:xfrm>
          <a:prstGeom prst="rect">
            <a:avLst/>
          </a:prstGeom>
          <a:solidFill>
            <a:srgbClr val="1B4F9C"/>
          </a:solidFill>
          <a:ln w="12700">
            <a:solidFill>
              <a:srgbClr val="1B4F9C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" name="Text 6"/>
          <p:cNvSpPr/>
          <p:nvPr/>
        </p:nvSpPr>
        <p:spPr>
          <a:xfrm>
            <a:off x="201168" y="80467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000" b="1" dirty="0">
                <a:solidFill>
                  <a:srgbClr val="1B4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60.7%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01168" y="13075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 Baseline SA%</a:t>
            </a:r>
            <a:endParaRPr lang="en-US" sz="850" dirty="0"/>
          </a:p>
          <a:p>
            <a:pPr algn="ctr"/>
            <a:r>
              <a:rPr lang="en-US" sz="8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(1,142 problems)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395728" y="713232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1" name="Shape 9"/>
          <p:cNvSpPr/>
          <p:nvPr/>
        </p:nvSpPr>
        <p:spPr>
          <a:xfrm>
            <a:off x="2395728" y="713232"/>
            <a:ext cx="201168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" name="Text 10"/>
          <p:cNvSpPr/>
          <p:nvPr/>
        </p:nvSpPr>
        <p:spPr>
          <a:xfrm>
            <a:off x="2395728" y="80467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78.3%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395728" y="13075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MCTS SA%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(1,142 problems)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90288" y="713232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5" name="Shape 13"/>
          <p:cNvSpPr/>
          <p:nvPr/>
        </p:nvSpPr>
        <p:spPr>
          <a:xfrm>
            <a:off x="4590288" y="713232"/>
            <a:ext cx="201168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6" name="Text 14"/>
          <p:cNvSpPr/>
          <p:nvPr/>
        </p:nvSpPr>
        <p:spPr>
          <a:xfrm>
            <a:off x="4590288" y="80467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+22.3%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590288" y="13075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MCTS Gain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(ComplexOR dataset)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784848" y="713232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9" name="Shape 17"/>
          <p:cNvSpPr/>
          <p:nvPr/>
        </p:nvSpPr>
        <p:spPr>
          <a:xfrm>
            <a:off x="6784848" y="713232"/>
            <a:ext cx="2011680" cy="7315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0" name="Text 18"/>
          <p:cNvSpPr/>
          <p:nvPr/>
        </p:nvSpPr>
        <p:spPr>
          <a:xfrm>
            <a:off x="6784848" y="80467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~10×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784848" y="13075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Reduction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GPT-4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7432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  →  MCTS Improvement (SA%)</a:t>
            </a:r>
            <a:endParaRPr lang="en-US" sz="11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148840"/>
          <a:ext cx="4572000" cy="169164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 SA%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MCTS SA%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NL4Opt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NLP4LP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+19.0%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+22.3%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MamoEasy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+20.5%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" name="Text 21"/>
          <p:cNvSpPr/>
          <p:nvPr/>
        </p:nvSpPr>
        <p:spPr>
          <a:xfrm>
            <a:off x="5029200" y="1828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Paper (GPT-4) — MCTS SA%</a:t>
            </a:r>
            <a:endParaRPr lang="en-US" sz="11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2148840"/>
          <a:ext cx="3840480" cy="169164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GPT-4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Ours 4o-mini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NL4Opt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NLP4LP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MamoEasy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" name="Text 22"/>
          <p:cNvSpPr/>
          <p:nvPr/>
        </p:nvSpPr>
        <p:spPr>
          <a:xfrm>
            <a:off x="274320" y="391363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Conclusions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274320" y="4224528"/>
            <a:ext cx="164592" cy="164592"/>
          </a:xfrm>
          <a:prstGeom prst="ellipse">
            <a:avLst/>
          </a:prstGeom>
          <a:solidFill>
            <a:srgbClr val="1B4F9C"/>
          </a:solidFill>
          <a:ln w="12700">
            <a:solidFill>
              <a:srgbClr val="1B4F9C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8" name="Text 24"/>
          <p:cNvSpPr/>
          <p:nvPr/>
        </p:nvSpPr>
        <p:spPr>
          <a:xfrm>
            <a:off x="274320" y="4215384"/>
            <a:ext cx="1645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12064" y="420624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 baseline with gpt-4o-mini matches or exceeds GPT-4 on 2/3 comparable datasets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274320" y="4434840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1" name="Text 27"/>
          <p:cNvSpPr/>
          <p:nvPr/>
        </p:nvSpPr>
        <p:spPr>
          <a:xfrm>
            <a:off x="274320" y="4425696"/>
            <a:ext cx="1645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512064" y="441655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MCTS improves SA% by +7 to +22 pp on all 4 evaluated datasets, confirming core paper finding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274320" y="4645152"/>
            <a:ext cx="164592" cy="164592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4" name="Text 30"/>
          <p:cNvSpPr/>
          <p:nvPr/>
        </p:nvSpPr>
        <p:spPr>
          <a:xfrm>
            <a:off x="274320" y="4636008"/>
            <a:ext cx="1645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512064" y="4626864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vs paper (GPT-4) explained by MCTS needing accurate LLM evaluation, not just generation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274320" y="4855464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7" name="Text 33"/>
          <p:cNvSpPr/>
          <p:nvPr/>
        </p:nvSpPr>
        <p:spPr>
          <a:xfrm>
            <a:off x="274320" y="4846320"/>
            <a:ext cx="1645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512064" y="483717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resume-safe design enables large-scale benchmarking at ~10× lower cost than GPT-4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Key Takeaways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100000"/>
          </a:xfrm>
          <a:prstGeom prst="rect">
            <a:avLst/>
          </a:prstGeom>
          <a:solidFill>
            <a:srgbClr val="F59E0B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274320" y="200000"/>
            <a:ext cx="859536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4" name="TK1Box"/>
          <p:cNvSpPr/>
          <p:nvPr/>
        </p:nvSpPr>
        <p:spPr>
          <a:xfrm>
            <a:off x="274320" y="900000"/>
            <a:ext cx="4114800" cy="1700000"/>
          </a:xfrm>
          <a:prstGeom prst="rect">
            <a:avLst/>
          </a:prstGeom>
          <a:solidFill>
            <a:srgbClr val="1B4F9C">
              <a:alpha val="80000"/>
            </a:srgbClr>
          </a:solidFill>
          <a:ln w="12700">
            <a:solidFill>
              <a:srgbClr val="F59E0B"/>
            </a:solidFill>
          </a:ln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/>
              </a:rPr>
              <a:t>+17.6 pp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MCTS Over Formulation Space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B0C8E8"/>
                </a:solidFill>
                <a:latin typeface="Calibri"/>
              </a:rPr>
              <a:t>Exploring multiple mathematical formulations instead of committing to one</a:t>
            </a:r>
          </a:p>
        </p:txBody>
      </p:sp>
      <p:sp>
        <p:nvSpPr>
          <p:cNvPr id="5" name="TK2Box"/>
          <p:cNvSpPr/>
          <p:nvPr/>
        </p:nvSpPr>
        <p:spPr>
          <a:xfrm>
            <a:off x="4754880" y="900000"/>
            <a:ext cx="4114800" cy="1700000"/>
          </a:xfrm>
          <a:prstGeom prst="rect">
            <a:avLst/>
          </a:prstGeom>
          <a:solidFill>
            <a:srgbClr val="0E7C86">
              <a:alpha val="80000"/>
            </a:srgbClr>
          </a:solidFill>
          <a:ln w="12700">
            <a:solidFill>
              <a:srgbClr val="16A34A"/>
            </a:solidFill>
          </a:ln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6A34A"/>
                </a:solidFill>
                <a:latin typeface="Calibri"/>
              </a:rPr>
              <a:t>3 Innovations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All Contribute to Better Search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A7D8DC"/>
                </a:solidFill>
                <a:latin typeface="Calibri"/>
              </a:rPr>
              <a:t>Dynamic expansion, prompt backpropagation, and uncertainty weighting</a:t>
            </a:r>
          </a:p>
        </p:txBody>
      </p:sp>
      <p:sp>
        <p:nvSpPr>
          <p:cNvPr id="6" name="TK3Box"/>
          <p:cNvSpPr/>
          <p:nvPr/>
        </p:nvSpPr>
        <p:spPr>
          <a:xfrm>
            <a:off x="274320" y="2760000"/>
            <a:ext cx="4114800" cy="170000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C4B5FD"/>
            </a:solidFill>
          </a:ln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C4B5FD"/>
                </a:solidFill>
                <a:latin typeface="Calibri"/>
              </a:rPr>
              <a:t>50–100+ calls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Trade-off: Accuracy vs. Cost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C4B5FD"/>
                </a:solidFill>
                <a:latin typeface="Calibri"/>
              </a:rPr>
              <a:t>MCTS uses 50–100+ LLM calls per problem vs. 4–7 for CoE, but accuracy gains justify the cost</a:t>
            </a:r>
          </a:p>
        </p:txBody>
      </p:sp>
      <p:sp>
        <p:nvSpPr>
          <p:cNvPr id="7" name="TK4Box"/>
          <p:cNvSpPr/>
          <p:nvPr/>
        </p:nvSpPr>
        <p:spPr>
          <a:xfrm>
            <a:off x="4754880" y="2760000"/>
            <a:ext cx="4114800" cy="1700000"/>
          </a:xfrm>
          <a:prstGeom prst="rect">
            <a:avLst/>
          </a:prstGeom>
          <a:solidFill>
            <a:srgbClr val="DC2626">
              <a:alpha val="60000"/>
            </a:srgbClr>
          </a:solidFill>
          <a:ln w="12700">
            <a:solidFill>
              <a:srgbClr val="FCA5A5"/>
            </a:solidFill>
          </a:ln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CA5A5"/>
                </a:solidFill>
                <a:latin typeface="Calibri"/>
              </a:rPr>
              <a:t>200x Cheaper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Scales to Weaker Models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FCA5A5"/>
                </a:solidFill>
                <a:latin typeface="Calibri"/>
              </a:rPr>
              <a:t>Even GPT-4o-mini benefits significantly from tree search vs. GPT-4 at 200x lower API cost</a:t>
            </a:r>
          </a:p>
        </p:txBody>
      </p:sp>
      <p:sp>
        <p:nvSpPr>
          <p:cNvPr id="8" name="BottomBar"/>
          <p:cNvSpPr/>
          <p:nvPr/>
        </p:nvSpPr>
        <p:spPr>
          <a:xfrm>
            <a:off x="0" y="4900000"/>
            <a:ext cx="9144000" cy="200000"/>
          </a:xfrm>
          <a:prstGeom prst="rect">
            <a:avLst/>
          </a:prstGeom>
          <a:solidFill>
            <a:srgbClr val="F59E0B"/>
          </a:solidFill>
        </p:spPr>
        <p:txBody>
          <a:bodyPr wrap="square" lIns="182880" tIns="45720" rIns="182880" bIns="45720" rtlCol="0" anchor="ctr"/>
          <a:lstStyle/>
          <a:p>
            <a:pPr algn="ctr">
              <a:buNone/>
            </a:pPr>
            <a:r>
              <a:rPr lang="en-US" sz="800" b="1" dirty="0">
                <a:solidFill>
                  <a:srgbClr val="0F1F3D"/>
                </a:solidFill>
                <a:latin typeface="Calibri"/>
              </a:rPr>
              <a:t>OptMCTS: MCTS-guided formulation search benefits even weaker models significantly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1909</Words>
  <Application>Microsoft Macintosh PowerPoint</Application>
  <PresentationFormat>On-screen Show (16:9)</PresentationFormat>
  <Paragraphs>322</Paragraphs>
  <Slides>16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OptMCTS Technical Report</dc:title>
  <dc:subject>PptxGenJS Presentation</dc:subject>
  <dc:creator>PptxGenJS</dc:creator>
  <cp:lastModifiedBy>Qi Chen</cp:lastModifiedBy>
  <cp:revision>20</cp:revision>
  <dcterms:created xsi:type="dcterms:W3CDTF">2026-03-02T10:14:51Z</dcterms:created>
  <dcterms:modified xsi:type="dcterms:W3CDTF">2026-03-09T19:15:05Z</dcterms:modified>
</cp:coreProperties>
</file>