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68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5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411480" cy="5070348"/>
          </a:xfrm>
          <a:prstGeom prst="rect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OptMCTS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of SolverLLM for Mathematical Optimization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MCTS-Guided LLM Formulation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4572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SolverLLM (NeurIPS 2025) 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benchmarks, 2,634 problems</a:t>
            </a:r>
            <a:b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r>
              <a:rPr lang="zh-CN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 </a:t>
            </a:r>
            <a:r>
              <a:rPr lang="en-US" altLang="zh-CN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https://</a:t>
            </a:r>
            <a:r>
              <a:rPr lang="en-US" altLang="zh-CN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neurips.cc</a:t>
            </a:r>
            <a:r>
              <a:rPr lang="en-US" altLang="zh-CN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/virtual/2025/loc/</a:t>
            </a:r>
            <a:r>
              <a:rPr lang="en-US" altLang="zh-CN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san-diego</a:t>
            </a:r>
            <a:r>
              <a:rPr lang="en-US" altLang="zh-CN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/poster/116215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  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202</a:t>
            </a:r>
            <a:r>
              <a:rPr lang="en-US" altLang="zh-CN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365760"/>
            <a:ext cx="2286000" cy="2286000"/>
          </a:xfrm>
          <a:prstGeom prst="ellipse">
            <a:avLst/>
          </a:prstGeom>
          <a:solidFill>
            <a:srgbClr val="1B4F9C">
              <a:alpha val="25000"/>
            </a:srgbClr>
          </a:solidFill>
          <a:ln w="12700">
            <a:solidFill>
              <a:srgbClr val="1B4F9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7589520" y="2011680"/>
            <a:ext cx="1645920" cy="1645920"/>
          </a:xfrm>
          <a:prstGeom prst="ellipse">
            <a:avLst/>
          </a:prstGeom>
          <a:solidFill>
            <a:srgbClr val="0E7C86">
              <a:alpha val="30000"/>
            </a:srgbClr>
          </a:solidFill>
          <a:ln w="12700">
            <a:solidFill>
              <a:srgbClr val="0E7C8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6812280" y="3020529"/>
            <a:ext cx="1097280" cy="10972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Structure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54864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84048" y="11338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2893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· CLI · DB I/O · Problem Loop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274320" y="1572768"/>
            <a:ext cx="54864" cy="347472"/>
          </a:xfrm>
          <a:prstGeom prst="rect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84048" y="15910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core/llm.py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17465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Wrapper · 4 call variants · Retry logic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274320" y="2029968"/>
            <a:ext cx="54864" cy="347472"/>
          </a:xfrm>
          <a:prstGeom prst="rect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384048" y="2048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core/executor.py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2037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subprocess · 120s timeout · Numeric validation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4871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274320" y="2487168"/>
            <a:ext cx="54864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384048" y="25054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pipeline/experts.py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26609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Chain-of-Experts 3-stage pipeline (Part 1 Baseline)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9443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4" name="Shape 22"/>
          <p:cNvSpPr/>
          <p:nvPr/>
        </p:nvSpPr>
        <p:spPr>
          <a:xfrm>
            <a:off x="274320" y="2944368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384048" y="29626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mcts/node.py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" y="31181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MCTSNode · UCB1 formula · Tree structure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4015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8" name="Shape 26"/>
          <p:cNvSpPr/>
          <p:nvPr/>
        </p:nvSpPr>
        <p:spPr>
          <a:xfrm>
            <a:off x="274320" y="3401568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384048" y="34198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mcts/search.py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" y="35753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· Expand · Simulate · Backpropagate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8587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2" name="Shape 30"/>
          <p:cNvSpPr/>
          <p:nvPr/>
        </p:nvSpPr>
        <p:spPr>
          <a:xfrm>
            <a:off x="274320" y="3858768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384048" y="38770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mcts/evaluator.py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" y="40325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scoring · Reasoning signals · Uncertainty est.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4315968"/>
            <a:ext cx="3657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6" name="Shape 34"/>
          <p:cNvSpPr/>
          <p:nvPr/>
        </p:nvSpPr>
        <p:spPr>
          <a:xfrm>
            <a:off x="274320" y="4315968"/>
            <a:ext cx="54864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384048" y="4334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evaluation/evaluator.py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" y="4489704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extraction · Correctness check (10% tol.)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93976" y="14630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2093976" y="19202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Shape 39"/>
          <p:cNvSpPr/>
          <p:nvPr/>
        </p:nvSpPr>
        <p:spPr>
          <a:xfrm>
            <a:off x="2093976" y="23774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Shape 40"/>
          <p:cNvSpPr/>
          <p:nvPr/>
        </p:nvSpPr>
        <p:spPr>
          <a:xfrm>
            <a:off x="2093976" y="28346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Shape 41"/>
          <p:cNvSpPr/>
          <p:nvPr/>
        </p:nvSpPr>
        <p:spPr>
          <a:xfrm>
            <a:off x="2093976" y="32918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Shape 42"/>
          <p:cNvSpPr/>
          <p:nvPr/>
        </p:nvSpPr>
        <p:spPr>
          <a:xfrm>
            <a:off x="2093976" y="37490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Shape 43"/>
          <p:cNvSpPr/>
          <p:nvPr/>
        </p:nvSpPr>
        <p:spPr>
          <a:xfrm>
            <a:off x="2093976" y="4206240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4754880" y="749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54880" y="111556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4864608" y="116128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26480" y="117957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0" name="Shape 48"/>
          <p:cNvSpPr/>
          <p:nvPr/>
        </p:nvSpPr>
        <p:spPr>
          <a:xfrm>
            <a:off x="6263640" y="118872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1B4F9C">
              <a:alpha val="12000"/>
            </a:srgbClr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6355080" y="1207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161848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4864608" y="166420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168249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5" name="Shape 53"/>
          <p:cNvSpPr/>
          <p:nvPr/>
        </p:nvSpPr>
        <p:spPr>
          <a:xfrm>
            <a:off x="6263640" y="169164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0E7C86">
              <a:alpha val="12000"/>
            </a:srgbClr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6" name="Text 54"/>
          <p:cNvSpPr/>
          <p:nvPr/>
        </p:nvSpPr>
        <p:spPr>
          <a:xfrm>
            <a:off x="6355080" y="1709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(OpenAI)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54880" y="212140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4864608" y="216712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26480" y="218541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0" name="Shape 58"/>
          <p:cNvSpPr/>
          <p:nvPr/>
        </p:nvSpPr>
        <p:spPr>
          <a:xfrm>
            <a:off x="6263640" y="219456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1" name="Text 59"/>
          <p:cNvSpPr/>
          <p:nvPr/>
        </p:nvSpPr>
        <p:spPr>
          <a:xfrm>
            <a:off x="6355080" y="22128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optimize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54880" y="262432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3" name="Text 61"/>
          <p:cNvSpPr/>
          <p:nvPr/>
        </p:nvSpPr>
        <p:spPr>
          <a:xfrm>
            <a:off x="4864608" y="267004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26480" y="268833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5" name="Shape 63"/>
          <p:cNvSpPr/>
          <p:nvPr/>
        </p:nvSpPr>
        <p:spPr>
          <a:xfrm>
            <a:off x="6263640" y="269748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6" name="Text 64"/>
          <p:cNvSpPr/>
          <p:nvPr/>
        </p:nvSpPr>
        <p:spPr>
          <a:xfrm>
            <a:off x="6355080" y="2715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(3 tables)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754880" y="312724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8" name="Text 66"/>
          <p:cNvSpPr/>
          <p:nvPr/>
        </p:nvSpPr>
        <p:spPr>
          <a:xfrm>
            <a:off x="4864608" y="317296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26480" y="319125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0" name="Shape 68"/>
          <p:cNvSpPr/>
          <p:nvPr/>
        </p:nvSpPr>
        <p:spPr>
          <a:xfrm>
            <a:off x="6263640" y="320040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1B4F9C">
              <a:alpha val="12000"/>
            </a:srgbClr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1" name="Text 69"/>
          <p:cNvSpPr/>
          <p:nvPr/>
        </p:nvSpPr>
        <p:spPr>
          <a:xfrm>
            <a:off x="6355080" y="32186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Python SDK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754880" y="3630168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3" name="Text 71"/>
          <p:cNvSpPr/>
          <p:nvPr/>
        </p:nvSpPr>
        <p:spPr>
          <a:xfrm>
            <a:off x="4864608" y="367588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126480" y="3694176"/>
            <a:ext cx="36576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5" name="Shape 73"/>
          <p:cNvSpPr/>
          <p:nvPr/>
        </p:nvSpPr>
        <p:spPr>
          <a:xfrm>
            <a:off x="6263640" y="370332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64748B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6" name="Text 74"/>
          <p:cNvSpPr/>
          <p:nvPr/>
        </p:nvSpPr>
        <p:spPr>
          <a:xfrm>
            <a:off x="6355080" y="37216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754880" y="4315968"/>
            <a:ext cx="4114800" cy="658368"/>
          </a:xfrm>
          <a:prstGeom prst="rect">
            <a:avLst/>
          </a:prstGeom>
          <a:solidFill>
            <a:srgbClr val="D6E4F7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8" name="Text 76"/>
          <p:cNvSpPr/>
          <p:nvPr/>
        </p:nvSpPr>
        <p:spPr>
          <a:xfrm>
            <a:off x="4892040" y="43525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Database: 3 Tables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892040" y="4544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(2,634 rows)   </a:t>
            </a: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(CoE)   </a:t>
            </a: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mcts_results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 &amp; MCTS TREE STRUCTURE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Chain-of-Experts (CoE) Pipeline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Problem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1426464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084832" y="1563624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11480" y="1664208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502920" y="16642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Interpretation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48840" y="2048256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2084832" y="2185416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411480" y="2286000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02920" y="2286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Formulation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48840" y="2670048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2084832" y="2807208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411480" y="2907792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502920" y="29077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Code Generation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48840" y="329184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2084832" y="3429000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411480" y="3529584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502920" y="35295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Execution (≤3 retries)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48840" y="3913632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2084832" y="4050792"/>
            <a:ext cx="128016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Shape 25"/>
          <p:cNvSpPr/>
          <p:nvPr/>
        </p:nvSpPr>
        <p:spPr>
          <a:xfrm>
            <a:off x="411480" y="4151376"/>
            <a:ext cx="3474720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502920" y="41513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Answer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77640" y="3163824"/>
            <a:ext cx="0" cy="82296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3749040" y="3163824"/>
            <a:ext cx="228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Shape 29"/>
          <p:cNvSpPr/>
          <p:nvPr/>
        </p:nvSpPr>
        <p:spPr>
          <a:xfrm>
            <a:off x="3749040" y="3986784"/>
            <a:ext cx="228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4005072" y="3429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713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MCTS Tree (6 Layers)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80008" y="1042416"/>
            <a:ext cx="3623911" cy="365760"/>
          </a:xfrm>
          <a:prstGeom prst="roundRect">
            <a:avLst>
              <a:gd name="adj" fmla="val 12500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6291072" y="1042416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 (Problem Statement)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60920" y="1408176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Shape 35"/>
          <p:cNvSpPr/>
          <p:nvPr/>
        </p:nvSpPr>
        <p:spPr>
          <a:xfrm>
            <a:off x="4880009" y="1682496"/>
            <a:ext cx="3623907" cy="365760"/>
          </a:xfrm>
          <a:prstGeom prst="roundRect">
            <a:avLst>
              <a:gd name="adj" fmla="val 12500"/>
            </a:avLst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8" name="Text 36"/>
          <p:cNvSpPr/>
          <p:nvPr/>
        </p:nvSpPr>
        <p:spPr>
          <a:xfrm>
            <a:off x="4880008" y="1682496"/>
            <a:ext cx="382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Type  (LP/MILP/NLP…)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0" y="2048256"/>
            <a:ext cx="0" cy="2377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4880008" y="2286000"/>
            <a:ext cx="3623905" cy="365760"/>
          </a:xfrm>
          <a:prstGeom prst="roundRect">
            <a:avLst>
              <a:gd name="adj" fmla="val 12500"/>
            </a:avLst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4880008" y="2286000"/>
            <a:ext cx="368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Sets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0" y="2651760"/>
            <a:ext cx="0" cy="2377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Shape 41"/>
          <p:cNvSpPr/>
          <p:nvPr/>
        </p:nvSpPr>
        <p:spPr>
          <a:xfrm>
            <a:off x="4880008" y="2889504"/>
            <a:ext cx="3623901" cy="365760"/>
          </a:xfrm>
          <a:prstGeom prst="roundRect">
            <a:avLst>
              <a:gd name="adj" fmla="val 125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4" name="Text 42"/>
          <p:cNvSpPr/>
          <p:nvPr/>
        </p:nvSpPr>
        <p:spPr>
          <a:xfrm>
            <a:off x="6062472" y="288950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Parameters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0" y="3255264"/>
            <a:ext cx="0" cy="2377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Shape 44"/>
          <p:cNvSpPr/>
          <p:nvPr/>
        </p:nvSpPr>
        <p:spPr>
          <a:xfrm>
            <a:off x="4880008" y="3493008"/>
            <a:ext cx="3623900" cy="365760"/>
          </a:xfrm>
          <a:prstGeom prst="roundRect">
            <a:avLst>
              <a:gd name="adj" fmla="val 125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7" name="Text 45"/>
          <p:cNvSpPr/>
          <p:nvPr/>
        </p:nvSpPr>
        <p:spPr>
          <a:xfrm>
            <a:off x="6062472" y="349300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Variables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15200" y="3858768"/>
            <a:ext cx="0" cy="23774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9" name="Shape 47"/>
          <p:cNvSpPr/>
          <p:nvPr/>
        </p:nvSpPr>
        <p:spPr>
          <a:xfrm>
            <a:off x="4880008" y="4096512"/>
            <a:ext cx="3623894" cy="36576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endParaRPr lang="en-CN" dirty="0"/>
          </a:p>
        </p:txBody>
      </p:sp>
      <p:sp>
        <p:nvSpPr>
          <p:cNvPr id="50" name="Text 48"/>
          <p:cNvSpPr/>
          <p:nvPr/>
        </p:nvSpPr>
        <p:spPr>
          <a:xfrm>
            <a:off x="6062470" y="4096512"/>
            <a:ext cx="25054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· Objective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15200" y="4462272"/>
            <a:ext cx="0" cy="1097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2" name="Shape 50"/>
          <p:cNvSpPr/>
          <p:nvPr/>
        </p:nvSpPr>
        <p:spPr>
          <a:xfrm>
            <a:off x="4880008" y="4572000"/>
            <a:ext cx="3623891" cy="365760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5742432" y="457200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 · Constraints  ← Complete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ALGORITHM: 4-STEP SEARCH LOOP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037679" y="0"/>
            <a:ext cx="50148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N" sz="1000" dirty="0">
                <a:solidFill>
                  <a:schemeClr val="bg1"/>
                </a:solidFill>
              </a:rPr>
              <a:t>🔴 </a:t>
            </a:r>
            <a:r>
              <a:rPr lang="en-US" sz="1000" b="1" dirty="0">
                <a:solidFill>
                  <a:schemeClr val="bg1"/>
                </a:solidFill>
              </a:rPr>
              <a:t>Visited Node</a:t>
            </a:r>
            <a:r>
              <a:rPr lang="zh-CN" altLang="en-US" sz="1000" b="1" dirty="0">
                <a:solidFill>
                  <a:schemeClr val="bg1"/>
                </a:solidFill>
              </a:rPr>
              <a:t>   </a:t>
            </a:r>
            <a:r>
              <a:rPr lang="en-CN" sz="1000" dirty="0">
                <a:solidFill>
                  <a:schemeClr val="bg1"/>
                </a:solidFill>
              </a:rPr>
              <a:t>🩶 </a:t>
            </a:r>
            <a:r>
              <a:rPr lang="en-US" sz="1000" b="1" dirty="0">
                <a:solidFill>
                  <a:schemeClr val="bg1"/>
                </a:solidFill>
              </a:rPr>
              <a:t>Leaf Node</a:t>
            </a:r>
            <a:r>
              <a:rPr lang="zh-CN" altLang="en-US" sz="1000" b="1" dirty="0">
                <a:solidFill>
                  <a:schemeClr val="bg1"/>
                </a:solidFill>
              </a:rPr>
              <a:t>  </a:t>
            </a:r>
            <a:r>
              <a:rPr lang="en-CN" sz="1000" dirty="0">
                <a:solidFill>
                  <a:schemeClr val="bg1"/>
                </a:solidFill>
              </a:rPr>
              <a:t>🔵 </a:t>
            </a:r>
            <a:r>
              <a:rPr lang="en-US" sz="1000" b="1" dirty="0">
                <a:solidFill>
                  <a:schemeClr val="bg1"/>
                </a:solidFill>
              </a:rPr>
              <a:t>Expanded Child</a:t>
            </a:r>
            <a:r>
              <a:rPr lang="zh-CN" altLang="en-US" sz="1000" b="1" dirty="0">
                <a:solidFill>
                  <a:schemeClr val="bg1"/>
                </a:solidFill>
              </a:rPr>
              <a:t>  </a:t>
            </a:r>
            <a:r>
              <a:rPr lang="en-CN" sz="1000" dirty="0">
                <a:solidFill>
                  <a:schemeClr val="bg1"/>
                </a:solidFill>
              </a:rPr>
              <a:t>🟣 </a:t>
            </a:r>
            <a:r>
              <a:rPr lang="en-US" sz="1000" b="1" dirty="0">
                <a:solidFill>
                  <a:schemeClr val="bg1"/>
                </a:solidFill>
              </a:rPr>
              <a:t>Rollout Node</a:t>
            </a:r>
            <a:r>
              <a:rPr lang="zh-CN" altLang="en-US" sz="1000" b="1" dirty="0">
                <a:solidFill>
                  <a:schemeClr val="bg1"/>
                </a:solidFill>
              </a:rPr>
              <a:t>  </a:t>
            </a:r>
            <a:r>
              <a:rPr lang="en-CN" sz="1000" dirty="0">
                <a:solidFill>
                  <a:schemeClr val="bg1"/>
                </a:solidFill>
              </a:rPr>
              <a:t>🟢 </a:t>
            </a:r>
            <a:r>
              <a:rPr lang="en-US" sz="1000" b="1" dirty="0">
                <a:solidFill>
                  <a:schemeClr val="bg1"/>
                </a:solidFill>
              </a:rPr>
              <a:t>Terminal State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90572" y="658368"/>
            <a:ext cx="0" cy="43891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960120" y="676656"/>
            <a:ext cx="402336" cy="40233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960120" y="676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" y="11612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" y="135331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" y="159105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root, walk the tree using UCB1 to choose which existing child to visit next. Unvisited nodes return ∞ and are always explored first.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24128" y="2295144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 flipH="1">
            <a:off x="886968" y="2532888"/>
            <a:ext cx="274320" cy="219456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14" name="Shape 12"/>
          <p:cNvSpPr/>
          <p:nvPr/>
        </p:nvSpPr>
        <p:spPr>
          <a:xfrm>
            <a:off x="658368" y="2752344"/>
            <a:ext cx="237744" cy="237744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 flipH="1">
            <a:off x="530353" y="2953512"/>
            <a:ext cx="246887" cy="21031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466344" y="3154680"/>
            <a:ext cx="201168" cy="201168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777240" y="2953512"/>
            <a:ext cx="182880" cy="21031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859536" y="3154680"/>
            <a:ext cx="201168" cy="201168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1161288" y="2532888"/>
            <a:ext cx="384048" cy="237744"/>
          </a:xfrm>
          <a:prstGeom prst="line">
            <a:avLst/>
          </a:prstGeom>
          <a:noFill/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1408176" y="273405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 flipH="1">
            <a:off x="1362456" y="3008376"/>
            <a:ext cx="100584" cy="14630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1243584" y="3163824"/>
            <a:ext cx="201168" cy="201168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1633994" y="3017520"/>
            <a:ext cx="108534" cy="173736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Shape 22"/>
          <p:cNvSpPr/>
          <p:nvPr/>
        </p:nvSpPr>
        <p:spPr>
          <a:xfrm>
            <a:off x="1668780" y="3145536"/>
            <a:ext cx="178308" cy="201168"/>
          </a:xfrm>
          <a:prstGeom prst="ellipse">
            <a:avLst/>
          </a:prstGeom>
          <a:solidFill>
            <a:srgbClr val="BBBBBB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128016" y="34381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UCB1 Policy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8016" y="358444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Unvisited node → ∞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49140" y="658368"/>
            <a:ext cx="0" cy="43891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3218688" y="676656"/>
            <a:ext cx="402336" cy="402336"/>
          </a:xfrm>
          <a:prstGeom prst="ellipse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3218688" y="676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386584" y="11612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86584" y="135331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23160" y="159105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child nodes (formulation elements) for the selected node using the LLM. Up to 5 children per node; similar candidates (&gt;0.8) are pruned.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82696" y="2295144"/>
            <a:ext cx="274320" cy="274320"/>
          </a:xfrm>
          <a:prstGeom prst="ellipse">
            <a:avLst/>
          </a:prstGeom>
          <a:solidFill>
            <a:srgbClr val="1B4F9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Shape 34"/>
          <p:cNvSpPr/>
          <p:nvPr/>
        </p:nvSpPr>
        <p:spPr>
          <a:xfrm flipH="1">
            <a:off x="3154679" y="2532888"/>
            <a:ext cx="265177" cy="265176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Shape 35"/>
          <p:cNvSpPr/>
          <p:nvPr/>
        </p:nvSpPr>
        <p:spPr>
          <a:xfrm>
            <a:off x="2916936" y="2752344"/>
            <a:ext cx="237744" cy="237744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 flipH="1">
            <a:off x="2898649" y="2953512"/>
            <a:ext cx="137159" cy="21031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Shape 37"/>
          <p:cNvSpPr/>
          <p:nvPr/>
        </p:nvSpPr>
        <p:spPr>
          <a:xfrm>
            <a:off x="2761488" y="316382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3035808" y="2953512"/>
            <a:ext cx="182880" cy="21031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Shape 39"/>
          <p:cNvSpPr/>
          <p:nvPr/>
        </p:nvSpPr>
        <p:spPr>
          <a:xfrm>
            <a:off x="3127248" y="316382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Shape 40"/>
          <p:cNvSpPr/>
          <p:nvPr/>
        </p:nvSpPr>
        <p:spPr>
          <a:xfrm>
            <a:off x="3419856" y="2532888"/>
            <a:ext cx="384048" cy="23774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Shape 41"/>
          <p:cNvSpPr/>
          <p:nvPr/>
        </p:nvSpPr>
        <p:spPr>
          <a:xfrm>
            <a:off x="3685032" y="2752344"/>
            <a:ext cx="237744" cy="237744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Shape 42"/>
          <p:cNvSpPr/>
          <p:nvPr/>
        </p:nvSpPr>
        <p:spPr>
          <a:xfrm flipH="1">
            <a:off x="3675888" y="2953512"/>
            <a:ext cx="128016" cy="23774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Shape 43"/>
          <p:cNvSpPr/>
          <p:nvPr/>
        </p:nvSpPr>
        <p:spPr>
          <a:xfrm>
            <a:off x="3529584" y="316382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Shape 44"/>
          <p:cNvSpPr/>
          <p:nvPr/>
        </p:nvSpPr>
        <p:spPr>
          <a:xfrm>
            <a:off x="3803903" y="2953512"/>
            <a:ext cx="173737" cy="173736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Shape 45"/>
          <p:cNvSpPr/>
          <p:nvPr/>
        </p:nvSpPr>
        <p:spPr>
          <a:xfrm>
            <a:off x="3831336" y="3118104"/>
            <a:ext cx="237744" cy="237744"/>
          </a:xfrm>
          <a:prstGeom prst="ellipse">
            <a:avLst/>
          </a:prstGeom>
          <a:solidFill>
            <a:srgbClr val="BBBBBB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9" name="Shape 47"/>
          <p:cNvSpPr/>
          <p:nvPr/>
        </p:nvSpPr>
        <p:spPr>
          <a:xfrm>
            <a:off x="3566160" y="3520440"/>
            <a:ext cx="182880" cy="182880"/>
          </a:xfrm>
          <a:prstGeom prst="ellipse">
            <a:avLst/>
          </a:prstGeom>
          <a:solidFill>
            <a:srgbClr val="3366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Shape 49"/>
          <p:cNvSpPr/>
          <p:nvPr/>
        </p:nvSpPr>
        <p:spPr>
          <a:xfrm>
            <a:off x="3854799" y="3565026"/>
            <a:ext cx="182880" cy="182880"/>
          </a:xfrm>
          <a:prstGeom prst="ellipse">
            <a:avLst/>
          </a:prstGeom>
          <a:solidFill>
            <a:srgbClr val="3366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3" name="Shape 51"/>
          <p:cNvSpPr/>
          <p:nvPr/>
        </p:nvSpPr>
        <p:spPr>
          <a:xfrm>
            <a:off x="4151376" y="3520440"/>
            <a:ext cx="182880" cy="182880"/>
          </a:xfrm>
          <a:prstGeom prst="ellipse">
            <a:avLst/>
          </a:prstGeom>
          <a:solidFill>
            <a:srgbClr val="3366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4" name="Text 52"/>
          <p:cNvSpPr/>
          <p:nvPr/>
        </p:nvSpPr>
        <p:spPr>
          <a:xfrm>
            <a:off x="2386584" y="371246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Leaf Node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386584" y="386791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≤5 alternatives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807708" y="658368"/>
            <a:ext cx="0" cy="43891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7" name="Shape 55"/>
          <p:cNvSpPr/>
          <p:nvPr/>
        </p:nvSpPr>
        <p:spPr>
          <a:xfrm>
            <a:off x="5477256" y="676656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5477256" y="676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4645152" y="11612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645152" y="135331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681728" y="159105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remaining formulation layers greedily, generate &amp; execute Python/SciPy code (up to 12 retries), and evaluate the result with the LLM scorer.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50408" y="2276856"/>
            <a:ext cx="256032" cy="25603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3" name="Shape 61"/>
          <p:cNvSpPr/>
          <p:nvPr/>
        </p:nvSpPr>
        <p:spPr>
          <a:xfrm flipH="1">
            <a:off x="5458968" y="2496312"/>
            <a:ext cx="219456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4" name="Shape 62"/>
          <p:cNvSpPr/>
          <p:nvPr/>
        </p:nvSpPr>
        <p:spPr>
          <a:xfrm>
            <a:off x="5221224" y="2660904"/>
            <a:ext cx="219456" cy="219456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5" name="Shape 63"/>
          <p:cNvSpPr/>
          <p:nvPr/>
        </p:nvSpPr>
        <p:spPr>
          <a:xfrm flipH="1">
            <a:off x="5202936" y="2852928"/>
            <a:ext cx="128016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6" name="Shape 64"/>
          <p:cNvSpPr/>
          <p:nvPr/>
        </p:nvSpPr>
        <p:spPr>
          <a:xfrm>
            <a:off x="5084064" y="302666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7" name="Shape 65"/>
          <p:cNvSpPr/>
          <p:nvPr/>
        </p:nvSpPr>
        <p:spPr>
          <a:xfrm>
            <a:off x="5330952" y="2852928"/>
            <a:ext cx="164592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8" name="Shape 66"/>
          <p:cNvSpPr/>
          <p:nvPr/>
        </p:nvSpPr>
        <p:spPr>
          <a:xfrm>
            <a:off x="5404104" y="302666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9" name="Shape 67"/>
          <p:cNvSpPr/>
          <p:nvPr/>
        </p:nvSpPr>
        <p:spPr>
          <a:xfrm>
            <a:off x="5678424" y="2496312"/>
            <a:ext cx="347472" cy="19202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0" name="Shape 68"/>
          <p:cNvSpPr/>
          <p:nvPr/>
        </p:nvSpPr>
        <p:spPr>
          <a:xfrm>
            <a:off x="5916168" y="2660904"/>
            <a:ext cx="219456" cy="219456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1" name="Shape 69"/>
          <p:cNvSpPr/>
          <p:nvPr/>
        </p:nvSpPr>
        <p:spPr>
          <a:xfrm flipH="1">
            <a:off x="5875020" y="2843784"/>
            <a:ext cx="96012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2" name="Shape 70"/>
          <p:cNvSpPr/>
          <p:nvPr/>
        </p:nvSpPr>
        <p:spPr>
          <a:xfrm>
            <a:off x="5788152" y="302666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3" name="Shape 71"/>
          <p:cNvSpPr/>
          <p:nvPr/>
        </p:nvSpPr>
        <p:spPr>
          <a:xfrm>
            <a:off x="6025896" y="2852928"/>
            <a:ext cx="128016" cy="16459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Shape 72"/>
          <p:cNvSpPr/>
          <p:nvPr/>
        </p:nvSpPr>
        <p:spPr>
          <a:xfrm>
            <a:off x="6044184" y="2990088"/>
            <a:ext cx="219456" cy="219456"/>
          </a:xfrm>
          <a:prstGeom prst="ellipse">
            <a:avLst/>
          </a:prstGeom>
          <a:solidFill>
            <a:srgbClr val="BBBBB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5" name="Shape 73"/>
          <p:cNvSpPr/>
          <p:nvPr/>
        </p:nvSpPr>
        <p:spPr>
          <a:xfrm>
            <a:off x="6153912" y="3182112"/>
            <a:ext cx="0" cy="13716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6" name="Shape 74"/>
          <p:cNvSpPr/>
          <p:nvPr/>
        </p:nvSpPr>
        <p:spPr>
          <a:xfrm>
            <a:off x="6062472" y="3291840"/>
            <a:ext cx="182880" cy="182880"/>
          </a:xfrm>
          <a:prstGeom prst="ellipse">
            <a:avLst/>
          </a:prstGeom>
          <a:solidFill>
            <a:srgbClr val="3366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7" name="Shape 75"/>
          <p:cNvSpPr/>
          <p:nvPr/>
        </p:nvSpPr>
        <p:spPr>
          <a:xfrm>
            <a:off x="6153912" y="3474720"/>
            <a:ext cx="0" cy="10972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8" name="Shape 76"/>
          <p:cNvSpPr/>
          <p:nvPr/>
        </p:nvSpPr>
        <p:spPr>
          <a:xfrm>
            <a:off x="6062472" y="356616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9" name="Shape 77"/>
          <p:cNvSpPr/>
          <p:nvPr/>
        </p:nvSpPr>
        <p:spPr>
          <a:xfrm>
            <a:off x="6153912" y="3749040"/>
            <a:ext cx="0" cy="10972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0" name="Shape 78"/>
          <p:cNvSpPr/>
          <p:nvPr/>
        </p:nvSpPr>
        <p:spPr>
          <a:xfrm>
            <a:off x="6062472" y="384048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1" name="Shape 79"/>
          <p:cNvSpPr/>
          <p:nvPr/>
        </p:nvSpPr>
        <p:spPr>
          <a:xfrm>
            <a:off x="6153912" y="4023360"/>
            <a:ext cx="0" cy="137160"/>
          </a:xfrm>
          <a:prstGeom prst="line">
            <a:avLst/>
          </a:prstGeom>
          <a:noFill/>
          <a:ln w="12700">
            <a:solidFill>
              <a:srgbClr val="7C3AED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82" name="Shape 80"/>
          <p:cNvSpPr/>
          <p:nvPr/>
        </p:nvSpPr>
        <p:spPr>
          <a:xfrm>
            <a:off x="6044184" y="4178808"/>
            <a:ext cx="219456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3" name="Text 81"/>
          <p:cNvSpPr/>
          <p:nvPr/>
        </p:nvSpPr>
        <p:spPr>
          <a:xfrm>
            <a:off x="6044184" y="41788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645152" y="435254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Rollout → Execute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645152" y="45079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2–6 + SciPy code → Answer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735824" y="676656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7" name="Text 85"/>
          <p:cNvSpPr/>
          <p:nvPr/>
        </p:nvSpPr>
        <p:spPr>
          <a:xfrm>
            <a:off x="7735824" y="676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88" name="Text 86"/>
          <p:cNvSpPr/>
          <p:nvPr/>
        </p:nvSpPr>
        <p:spPr>
          <a:xfrm>
            <a:off x="6903720" y="11612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6903720" y="135331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940296" y="1591056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 and Q for every node on the path. Uses confidence-weighted update: Q ← Q + ρ·(R−Q)/N, where ρ=exp(−U_global) dampens noisy evaluations.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808976" y="2276856"/>
            <a:ext cx="256032" cy="25603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2" name="Shape 90"/>
          <p:cNvSpPr/>
          <p:nvPr/>
        </p:nvSpPr>
        <p:spPr>
          <a:xfrm flipH="1">
            <a:off x="7690500" y="2532888"/>
            <a:ext cx="118465" cy="15544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3" name="Shape 91"/>
          <p:cNvSpPr/>
          <p:nvPr/>
        </p:nvSpPr>
        <p:spPr>
          <a:xfrm>
            <a:off x="7479792" y="2660904"/>
            <a:ext cx="219456" cy="219456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4" name="Shape 92"/>
          <p:cNvSpPr/>
          <p:nvPr/>
        </p:nvSpPr>
        <p:spPr>
          <a:xfrm flipH="1">
            <a:off x="7461504" y="2852928"/>
            <a:ext cx="128016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5" name="Shape 93"/>
          <p:cNvSpPr/>
          <p:nvPr/>
        </p:nvSpPr>
        <p:spPr>
          <a:xfrm>
            <a:off x="7342632" y="302666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6" name="Shape 94"/>
          <p:cNvSpPr/>
          <p:nvPr/>
        </p:nvSpPr>
        <p:spPr>
          <a:xfrm>
            <a:off x="7589520" y="2852928"/>
            <a:ext cx="164592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7" name="Shape 95"/>
          <p:cNvSpPr/>
          <p:nvPr/>
        </p:nvSpPr>
        <p:spPr>
          <a:xfrm>
            <a:off x="7662672" y="302666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9" name="Shape 97"/>
          <p:cNvSpPr/>
          <p:nvPr/>
        </p:nvSpPr>
        <p:spPr>
          <a:xfrm>
            <a:off x="8174736" y="2660904"/>
            <a:ext cx="219456" cy="219456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0" name="Shape 98"/>
          <p:cNvSpPr/>
          <p:nvPr/>
        </p:nvSpPr>
        <p:spPr>
          <a:xfrm flipH="1">
            <a:off x="8118035" y="2880360"/>
            <a:ext cx="111564" cy="15544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1" name="Shape 99"/>
          <p:cNvSpPr/>
          <p:nvPr/>
        </p:nvSpPr>
        <p:spPr>
          <a:xfrm>
            <a:off x="8046720" y="3026664"/>
            <a:ext cx="182880" cy="1828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3" name="Shape 101"/>
          <p:cNvSpPr/>
          <p:nvPr/>
        </p:nvSpPr>
        <p:spPr>
          <a:xfrm>
            <a:off x="8284464" y="3017520"/>
            <a:ext cx="202156" cy="192024"/>
          </a:xfrm>
          <a:prstGeom prst="ellipse">
            <a:avLst/>
          </a:prstGeom>
          <a:solidFill>
            <a:srgbClr val="BBBBBB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5" name="Shape 103"/>
          <p:cNvSpPr/>
          <p:nvPr/>
        </p:nvSpPr>
        <p:spPr>
          <a:xfrm>
            <a:off x="8311896" y="3282696"/>
            <a:ext cx="201168" cy="201168"/>
          </a:xfrm>
          <a:prstGeom prst="ellipse">
            <a:avLst/>
          </a:prstGeom>
          <a:solidFill>
            <a:srgbClr val="3366C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7" name="Shape 105"/>
          <p:cNvSpPr/>
          <p:nvPr/>
        </p:nvSpPr>
        <p:spPr>
          <a:xfrm>
            <a:off x="8321040" y="359359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9" name="Shape 107"/>
          <p:cNvSpPr/>
          <p:nvPr/>
        </p:nvSpPr>
        <p:spPr>
          <a:xfrm>
            <a:off x="8321040" y="3886200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0" name="Shape 108"/>
          <p:cNvSpPr/>
          <p:nvPr/>
        </p:nvSpPr>
        <p:spPr>
          <a:xfrm>
            <a:off x="8412480" y="4069080"/>
            <a:ext cx="0" cy="137160"/>
          </a:xfrm>
          <a:prstGeom prst="line">
            <a:avLst/>
          </a:prstGeom>
          <a:noFill/>
          <a:ln w="12700">
            <a:solidFill>
              <a:srgbClr val="888888"/>
            </a:solidFill>
            <a:prstDash val="dot"/>
          </a:ln>
        </p:spPr>
        <p:txBody>
          <a:bodyPr/>
          <a:lstStyle/>
          <a:p>
            <a:endParaRPr lang="en-CN"/>
          </a:p>
        </p:txBody>
      </p:sp>
      <p:sp>
        <p:nvSpPr>
          <p:cNvPr id="111" name="Shape 109"/>
          <p:cNvSpPr/>
          <p:nvPr/>
        </p:nvSpPr>
        <p:spPr>
          <a:xfrm>
            <a:off x="8302752" y="4224528"/>
            <a:ext cx="219456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2" name="Text 110"/>
          <p:cNvSpPr/>
          <p:nvPr/>
        </p:nvSpPr>
        <p:spPr>
          <a:xfrm>
            <a:off x="8302752" y="42245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8412480" y="3950208"/>
            <a:ext cx="0" cy="0"/>
          </a:xfrm>
          <a:prstGeom prst="line">
            <a:avLst/>
          </a:prstGeom>
          <a:noFill/>
          <a:ln w="12700">
            <a:solidFill>
              <a:srgbClr val="8844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5" name="Shape 113"/>
          <p:cNvSpPr/>
          <p:nvPr/>
        </p:nvSpPr>
        <p:spPr>
          <a:xfrm>
            <a:off x="8412480" y="3657600"/>
            <a:ext cx="0" cy="0"/>
          </a:xfrm>
          <a:prstGeom prst="line">
            <a:avLst/>
          </a:prstGeom>
          <a:noFill/>
          <a:ln w="12700">
            <a:solidFill>
              <a:srgbClr val="8844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7" name="Shape 115"/>
          <p:cNvSpPr/>
          <p:nvPr/>
        </p:nvSpPr>
        <p:spPr>
          <a:xfrm>
            <a:off x="8412480" y="3383280"/>
            <a:ext cx="0" cy="0"/>
          </a:xfrm>
          <a:prstGeom prst="line">
            <a:avLst/>
          </a:prstGeom>
          <a:noFill/>
          <a:ln w="12700">
            <a:solidFill>
              <a:srgbClr val="8844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9" name="Shape 117"/>
          <p:cNvSpPr/>
          <p:nvPr/>
        </p:nvSpPr>
        <p:spPr>
          <a:xfrm>
            <a:off x="8412480" y="3099816"/>
            <a:ext cx="0" cy="0"/>
          </a:xfrm>
          <a:prstGeom prst="line">
            <a:avLst/>
          </a:prstGeom>
          <a:noFill/>
          <a:ln w="12700">
            <a:solidFill>
              <a:srgbClr val="8844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1" name="Shape 119"/>
          <p:cNvSpPr/>
          <p:nvPr/>
        </p:nvSpPr>
        <p:spPr>
          <a:xfrm>
            <a:off x="8302752" y="2852928"/>
            <a:ext cx="0" cy="0"/>
          </a:xfrm>
          <a:prstGeom prst="line">
            <a:avLst/>
          </a:prstGeom>
          <a:noFill/>
          <a:ln w="12700">
            <a:solidFill>
              <a:srgbClr val="8844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3" name="Shape 121"/>
          <p:cNvSpPr/>
          <p:nvPr/>
        </p:nvSpPr>
        <p:spPr>
          <a:xfrm>
            <a:off x="8083296" y="2688336"/>
            <a:ext cx="0" cy="0"/>
          </a:xfrm>
          <a:prstGeom prst="line">
            <a:avLst/>
          </a:prstGeom>
          <a:noFill/>
          <a:ln w="12700">
            <a:solidFill>
              <a:srgbClr val="8844B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5" name="Text 123"/>
          <p:cNvSpPr/>
          <p:nvPr/>
        </p:nvSpPr>
        <p:spPr>
          <a:xfrm>
            <a:off x="6903720" y="4462272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N, Q along path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6903720" y="463600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← Q + ρ·(R−Q)/N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8" name="Text 126"/>
          <p:cNvSpPr/>
          <p:nvPr/>
        </p:nvSpPr>
        <p:spPr>
          <a:xfrm>
            <a:off x="182880" y="4956048"/>
            <a:ext cx="8778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runs for T=20 iterations per problem  ·  Early stop when R=1.0 (predicted answer matches ground truth ±10%)  ·  Exploration constant C=2.0  ·  Uncertainty threshold η=0.3</a:t>
            </a:r>
            <a:endParaRPr lang="en-US" sz="800" dirty="0"/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56F32FB-8CB2-6B9B-CEAF-78BB45A412C9}"/>
              </a:ext>
            </a:extLst>
          </p:cNvPr>
          <p:cNvCxnSpPr>
            <a:cxnSpLocks/>
            <a:stCxn id="22" idx="6"/>
            <a:endCxn id="24" idx="2"/>
          </p:cNvCxnSpPr>
          <p:nvPr/>
        </p:nvCxnSpPr>
        <p:spPr>
          <a:xfrm flipV="1">
            <a:off x="1444752" y="3246120"/>
            <a:ext cx="224028" cy="1828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7FAE830-2E21-68D1-6B44-85D623064D14}"/>
              </a:ext>
            </a:extLst>
          </p:cNvPr>
          <p:cNvCxnSpPr>
            <a:cxnSpLocks/>
            <a:stCxn id="109" idx="0"/>
          </p:cNvCxnSpPr>
          <p:nvPr/>
        </p:nvCxnSpPr>
        <p:spPr>
          <a:xfrm flipV="1">
            <a:off x="8412480" y="3758184"/>
            <a:ext cx="9886" cy="128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364C3265-9078-D460-1FB4-37ABD1353544}"/>
              </a:ext>
            </a:extLst>
          </p:cNvPr>
          <p:cNvCxnSpPr/>
          <p:nvPr/>
        </p:nvCxnSpPr>
        <p:spPr>
          <a:xfrm flipV="1">
            <a:off x="8411656" y="3480322"/>
            <a:ext cx="0" cy="10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0FCD2A0D-1A53-BFB1-48B8-B22401F14256}"/>
              </a:ext>
            </a:extLst>
          </p:cNvPr>
          <p:cNvCxnSpPr/>
          <p:nvPr/>
        </p:nvCxnSpPr>
        <p:spPr>
          <a:xfrm flipV="1">
            <a:off x="8411656" y="3191256"/>
            <a:ext cx="0" cy="10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E2D6522-09F6-C775-6C4F-5416C148F3E7}"/>
              </a:ext>
            </a:extLst>
          </p:cNvPr>
          <p:cNvCxnSpPr>
            <a:cxnSpLocks/>
          </p:cNvCxnSpPr>
          <p:nvPr/>
        </p:nvCxnSpPr>
        <p:spPr>
          <a:xfrm flipH="1" flipV="1">
            <a:off x="8333314" y="2871216"/>
            <a:ext cx="60877" cy="118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FD86587-B26F-B07A-3915-F5426C4595F3}"/>
              </a:ext>
            </a:extLst>
          </p:cNvPr>
          <p:cNvCxnSpPr>
            <a:cxnSpLocks/>
            <a:stCxn id="99" idx="1"/>
          </p:cNvCxnSpPr>
          <p:nvPr/>
        </p:nvCxnSpPr>
        <p:spPr>
          <a:xfrm flipH="1" flipV="1">
            <a:off x="8037576" y="2478024"/>
            <a:ext cx="169299" cy="21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0DC0054-CAE2-5ED6-41AD-76CA4E4ACE15}"/>
              </a:ext>
            </a:extLst>
          </p:cNvPr>
          <p:cNvCxnSpPr>
            <a:stCxn id="47" idx="4"/>
            <a:endCxn id="51" idx="0"/>
          </p:cNvCxnSpPr>
          <p:nvPr/>
        </p:nvCxnSpPr>
        <p:spPr>
          <a:xfrm flipH="1">
            <a:off x="3946239" y="3355848"/>
            <a:ext cx="3969" cy="209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F907C541-8BE4-E462-641C-82F1D4C3AF65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4059038" y="3330776"/>
            <a:ext cx="183778" cy="189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C3B3455F-AEC9-9679-79FA-81A92BF699AC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3657600" y="3355848"/>
            <a:ext cx="166878" cy="164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 52">
            <a:extLst>
              <a:ext uri="{FF2B5EF4-FFF2-40B4-BE49-F238E27FC236}">
                <a16:creationId xmlns:a16="http://schemas.microsoft.com/office/drawing/2014/main" id="{34C7F36F-6A74-12F9-633C-601BC49D68F2}"/>
              </a:ext>
            </a:extLst>
          </p:cNvPr>
          <p:cNvSpPr/>
          <p:nvPr/>
        </p:nvSpPr>
        <p:spPr>
          <a:xfrm>
            <a:off x="418941" y="3712464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UCB1 = Q + C · √( 2·ln(N_parent) / N 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NATURAL LANGUAGE TO ANSWER: THE FULL PIPELINE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Problem Solving Pipeline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042416"/>
            <a:ext cx="14173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182880" y="1042416"/>
            <a:ext cx="141732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237744" y="1133856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" y="1627632"/>
            <a:ext cx="1307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factory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produces…"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4068" y="2368296"/>
            <a:ext cx="694944" cy="210312"/>
          </a:xfrm>
          <a:prstGeom prst="roundRect">
            <a:avLst>
              <a:gd name="adj" fmla="val 21739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544068" y="2368296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00200" y="1673352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1636776" y="1618488"/>
            <a:ext cx="5486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1673352" y="1042416"/>
            <a:ext cx="1508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1673352" y="1042416"/>
            <a:ext cx="1508760" cy="64008"/>
          </a:xfrm>
          <a:prstGeom prst="rect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728216" y="1133856"/>
            <a:ext cx="1399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Interpret-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28216" y="1627632"/>
            <a:ext cx="1399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relations, goals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080260" y="2368296"/>
            <a:ext cx="694944" cy="210312"/>
          </a:xfrm>
          <a:prstGeom prst="roundRect">
            <a:avLst>
              <a:gd name="adj" fmla="val 21739"/>
            </a:avLst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2080260" y="2368296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82112" y="1673352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3218688" y="1618488"/>
            <a:ext cx="5486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3255264" y="1042416"/>
            <a:ext cx="1691640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4" name="Shape 22"/>
          <p:cNvSpPr/>
          <p:nvPr/>
        </p:nvSpPr>
        <p:spPr>
          <a:xfrm>
            <a:off x="3255264" y="1042416"/>
            <a:ext cx="1691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3310128" y="1133856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10128" y="1627632"/>
            <a:ext cx="1581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Sets, Params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Vars, Objective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53612" y="2368296"/>
            <a:ext cx="694944" cy="210312"/>
          </a:xfrm>
          <a:prstGeom prst="roundRect">
            <a:avLst>
              <a:gd name="adj" fmla="val 2173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3753612" y="2368296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46904" y="1673352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4983480" y="1618488"/>
            <a:ext cx="5486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Shape 29"/>
          <p:cNvSpPr/>
          <p:nvPr/>
        </p:nvSpPr>
        <p:spPr>
          <a:xfrm>
            <a:off x="5020056" y="1042416"/>
            <a:ext cx="1508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2" name="Shape 30"/>
          <p:cNvSpPr/>
          <p:nvPr/>
        </p:nvSpPr>
        <p:spPr>
          <a:xfrm>
            <a:off x="5020056" y="1042416"/>
            <a:ext cx="150876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5074920" y="1133856"/>
            <a:ext cx="1399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1627632"/>
            <a:ext cx="1399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math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executable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code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26964" y="2368296"/>
            <a:ext cx="694944" cy="210312"/>
          </a:xfrm>
          <a:prstGeom prst="roundRect">
            <a:avLst>
              <a:gd name="adj" fmla="val 2173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Text 34"/>
          <p:cNvSpPr/>
          <p:nvPr/>
        </p:nvSpPr>
        <p:spPr>
          <a:xfrm>
            <a:off x="5426964" y="2368296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28816" y="1673352"/>
            <a:ext cx="73152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>
            <a:off x="6565392" y="1618488"/>
            <a:ext cx="54864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Shape 37"/>
          <p:cNvSpPr/>
          <p:nvPr/>
        </p:nvSpPr>
        <p:spPr>
          <a:xfrm>
            <a:off x="6601968" y="1042416"/>
            <a:ext cx="14173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6601968" y="1042416"/>
            <a:ext cx="14173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6656832" y="1133856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Answer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56832" y="1627632"/>
            <a:ext cx="1307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value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63156" y="2368296"/>
            <a:ext cx="694944" cy="210312"/>
          </a:xfrm>
          <a:prstGeom prst="roundRect">
            <a:avLst>
              <a:gd name="adj" fmla="val 2173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4" name="Text 42"/>
          <p:cNvSpPr/>
          <p:nvPr/>
        </p:nvSpPr>
        <p:spPr>
          <a:xfrm>
            <a:off x="6963156" y="2368296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55264" y="2633472"/>
            <a:ext cx="169164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Shape 44"/>
          <p:cNvSpPr/>
          <p:nvPr/>
        </p:nvSpPr>
        <p:spPr>
          <a:xfrm>
            <a:off x="3255264" y="2587752"/>
            <a:ext cx="0" cy="12801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7" name="Shape 45"/>
          <p:cNvSpPr/>
          <p:nvPr/>
        </p:nvSpPr>
        <p:spPr>
          <a:xfrm>
            <a:off x="4946904" y="2587752"/>
            <a:ext cx="0" cy="12801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8" name="Text 46"/>
          <p:cNvSpPr/>
          <p:nvPr/>
        </p:nvSpPr>
        <p:spPr>
          <a:xfrm>
            <a:off x="3163824" y="26700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operates here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" y="3090672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0" name="Text 48"/>
          <p:cNvSpPr/>
          <p:nvPr/>
        </p:nvSpPr>
        <p:spPr>
          <a:xfrm>
            <a:off x="274320" y="3163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Replace Single-Pass Formulation with MCTS?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3493008"/>
            <a:ext cx="3931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2" name="Shape 50"/>
          <p:cNvSpPr/>
          <p:nvPr/>
        </p:nvSpPr>
        <p:spPr>
          <a:xfrm>
            <a:off x="274320" y="3493008"/>
            <a:ext cx="393192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3" name="Text 51"/>
          <p:cNvSpPr/>
          <p:nvPr/>
        </p:nvSpPr>
        <p:spPr>
          <a:xfrm>
            <a:off x="384048" y="3566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Baseline — Single Pass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84048" y="38587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Generates the entire formulation in one LLM call.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4048" y="41193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 wrong early decision (e.g. LP instead of MILP)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84048" y="437997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propagates through the full pipeline — no recovery.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4048" y="46405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exploration of alternative formulation strategies.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15968" y="4023360"/>
            <a:ext cx="512064" cy="512064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9" name="Text 57"/>
          <p:cNvSpPr/>
          <p:nvPr/>
        </p:nvSpPr>
        <p:spPr>
          <a:xfrm>
            <a:off x="431596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937760" y="3493008"/>
            <a:ext cx="3931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1" name="Shape 59"/>
          <p:cNvSpPr/>
          <p:nvPr/>
        </p:nvSpPr>
        <p:spPr>
          <a:xfrm>
            <a:off x="4937760" y="3493008"/>
            <a:ext cx="39319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2" name="Text 60"/>
          <p:cNvSpPr/>
          <p:nvPr/>
        </p:nvSpPr>
        <p:spPr>
          <a:xfrm>
            <a:off x="5047488" y="35661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— Iterative Search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47488" y="38587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Decomposes formulation into 6 searchable layers.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47488" y="41193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Explores multiple alternative choices per layer.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47488" y="437997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Exploits feedback to refine promising paths.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047488" y="46405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revise earlier decisions when errors are detected.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INNOVATIONS OF MCTS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749808"/>
            <a:ext cx="2788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2788920" cy="658368"/>
          </a:xfrm>
          <a:prstGeom prst="rect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292608" y="795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0896" y="1078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Expansion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49961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MCTS expands only leaf nodes.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856232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SolverLLM expands any node where trigger=True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212848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local_uncertainty &gt; η (η = 0.3).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2569464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layer revision (e.g. problem type)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926080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evaluator flags a specific layer as flawed.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328269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children per node: 5 · Similarity pruning: 0.8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" y="4498848"/>
            <a:ext cx="2569464" cy="310896"/>
          </a:xfrm>
          <a:prstGeom prst="roundRect">
            <a:avLst>
              <a:gd name="adj" fmla="val 17647"/>
            </a:avLst>
          </a:prstGeom>
          <a:solidFill>
            <a:srgbClr val="1B4F9C">
              <a:alpha val="12000"/>
            </a:srgbClr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338328" y="44988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trigger=True  AND  U_local &gt; 0.3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82112" y="749808"/>
            <a:ext cx="2788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3182112" y="749808"/>
            <a:ext cx="2788920" cy="65836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3273552" y="795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91840" y="1078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Backpropagation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28416" y="149961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simulation the LLM evaluates all 6 layers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28416" y="1856232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emits a (trigger, explanation, guidance) triplet.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28416" y="2212848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strings accumulate in a per-layer knowledge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28416" y="2569464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(capped at </a:t>
            </a:r>
            <a:r>
              <a:rPr lang="en-US" altLang="zh-CN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zh-CN" alt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entries). During expansion, the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28416" y="2926080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entries are injected into the prompt,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28416" y="328269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the LLM toward known improvements.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4498848"/>
            <a:ext cx="2569464" cy="310896"/>
          </a:xfrm>
          <a:prstGeom prst="roundRect">
            <a:avLst>
              <a:gd name="adj" fmla="val 17647"/>
            </a:avLst>
          </a:prstGeom>
          <a:solidFill>
            <a:srgbClr val="0E7C86">
              <a:alpha val="12000"/>
            </a:srgbClr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3319272" y="44988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G_l ← G_l + {guidance}  (|G_l| ≤ 10)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63056" y="749808"/>
            <a:ext cx="27889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1" name="Shape 29"/>
          <p:cNvSpPr/>
          <p:nvPr/>
        </p:nvSpPr>
        <p:spPr>
          <a:xfrm>
            <a:off x="6163056" y="749808"/>
            <a:ext cx="27889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6254496" y="795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72784" y="1078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Backpropagation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149961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reward is replaced by a confidence-weighted update.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1856232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LLM evaluations at temp=0.5 estimate U_global.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2212848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factor ρ = exp(−U_global) dampens noisy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09360" y="2569464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when the evaluator is inconsistent.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2926080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agreement → ρ ≈ 1 (full update).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3282696"/>
            <a:ext cx="2532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→ ρ ≈ 0 (dampened update).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72784" y="4498848"/>
            <a:ext cx="2569464" cy="310896"/>
          </a:xfrm>
          <a:prstGeom prst="roundRect">
            <a:avLst>
              <a:gd name="adj" fmla="val 1764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1" name="Text 39"/>
          <p:cNvSpPr/>
          <p:nvPr/>
        </p:nvSpPr>
        <p:spPr>
          <a:xfrm>
            <a:off x="6300216" y="449884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← Q + ρ · (R − Q) / 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1168" y="4846320"/>
            <a:ext cx="8741664" cy="2011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 R = 0.1 · feasible  +  0.8 · score  −  0.1 · error     |     Override to R=1.0 when predicted answer matches ground truth (±10%)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&amp; CONCLUSIONS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201168" y="713232"/>
            <a:ext cx="2011680" cy="73152"/>
          </a:xfrm>
          <a:prstGeom prst="rect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201168" y="804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1B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01168" y="1307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Baseline SA%</a:t>
            </a:r>
            <a:endParaRPr lang="en-US" sz="850" dirty="0"/>
          </a:p>
          <a:p>
            <a:pPr algn="ctr"/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(1,142 problems)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95728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2395728" y="713232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2395728" y="804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395728" y="1307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SA%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(1,142 problems)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90288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4590288" y="713232"/>
            <a:ext cx="20116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4590288" y="804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+22.3%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90288" y="1307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MCTS Gain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(ComplexOR dataset)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84848" y="71323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6784848" y="713232"/>
            <a:ext cx="201168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784848" y="8046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84848" y="1307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GPT-4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 →  MCTS Improvement (SA%)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48840"/>
          <a:ext cx="4572000" cy="16916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 SA%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MCTS SA%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NL4Opt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NLP4LP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MamoEasy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0292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Paper (GPT-4) — MCTS SA%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148840"/>
          <a:ext cx="3840480" cy="1691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GPT-4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4o-mini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NL4Opt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NLP4LP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MamoEasy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274320" y="39136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274320" y="4224528"/>
            <a:ext cx="164592" cy="164592"/>
          </a:xfrm>
          <a:prstGeom prst="ellipse">
            <a:avLst/>
          </a:prstGeom>
          <a:solidFill>
            <a:srgbClr val="1B4F9C"/>
          </a:solidFill>
          <a:ln w="12700">
            <a:solidFill>
              <a:srgbClr val="1B4F9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4"/>
          <p:cNvSpPr/>
          <p:nvPr/>
        </p:nvSpPr>
        <p:spPr>
          <a:xfrm>
            <a:off x="274320" y="4215384"/>
            <a:ext cx="164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12064" y="42062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baseline with gpt-4o-mini matches or exceeds GPT-4 on 2/3 comparable datasets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74320" y="443484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7"/>
          <p:cNvSpPr/>
          <p:nvPr/>
        </p:nvSpPr>
        <p:spPr>
          <a:xfrm>
            <a:off x="274320" y="4425696"/>
            <a:ext cx="164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12064" y="44165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improves SA% by +7 to +22 pp on all 4 evaluated datasets, confirming core paper finding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274320" y="4645152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Text 30"/>
          <p:cNvSpPr/>
          <p:nvPr/>
        </p:nvSpPr>
        <p:spPr>
          <a:xfrm>
            <a:off x="274320" y="4636008"/>
            <a:ext cx="164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12064" y="46268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 paper (GPT-4) explained by MCTS needing accurate LLM evaluation, not just generation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74320" y="485546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Text 33"/>
          <p:cNvSpPr/>
          <p:nvPr/>
        </p:nvSpPr>
        <p:spPr>
          <a:xfrm>
            <a:off x="274320" y="4846320"/>
            <a:ext cx="164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512064" y="48371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resume-safe design enables large-scale benchmarking at ~10× lower cost than GPT-4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1197</Words>
  <Application>Microsoft Macintosh PowerPoint</Application>
  <PresentationFormat>On-screen Show (16:9)</PresentationFormat>
  <Paragraphs>232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OptMCTS Technical Report</dc:title>
  <dc:subject>PptxGenJS Presentation</dc:subject>
  <dc:creator>PptxGenJS</dc:creator>
  <cp:lastModifiedBy>Qi Chen</cp:lastModifiedBy>
  <cp:revision>9</cp:revision>
  <dcterms:created xsi:type="dcterms:W3CDTF">2026-03-02T10:14:51Z</dcterms:created>
  <dcterms:modified xsi:type="dcterms:W3CDTF">2026-03-03T05:22:02Z</dcterms:modified>
</cp:coreProperties>
</file>