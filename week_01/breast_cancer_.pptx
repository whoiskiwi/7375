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19" d="100"/>
          <a:sy n="119" d="100"/>
        </p:scale>
        <p:origin x="-96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9062051205863418E-2"/>
          <c:y val="5.701754385964912E-2"/>
          <c:w val="0.90259413328050975"/>
          <c:h val="0.632553606237816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Gained</c:v>
                </c:pt>
              </c:strCache>
            </c:strRef>
          </c:tx>
          <c:spPr>
            <a:solidFill>
              <a:srgbClr val="8B1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1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2A-4549-A5F1-8A4254DF6444}"/>
              </c:ext>
            </c:extLst>
          </c:dPt>
          <c:dPt>
            <c:idx val="1"/>
            <c:invertIfNegative val="0"/>
            <c:bubble3D val="0"/>
            <c:spPr>
              <a:solidFill>
                <a:srgbClr val="8B1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2A-4549-A5F1-8A4254DF6444}"/>
              </c:ext>
            </c:extLst>
          </c:dPt>
          <c:dPt>
            <c:idx val="2"/>
            <c:invertIfNegative val="0"/>
            <c:bubble3D val="0"/>
            <c:spPr>
              <a:solidFill>
                <a:srgbClr val="8B1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2A-4549-A5F1-8A4254DF6444}"/>
              </c:ext>
            </c:extLst>
          </c:dPt>
          <c:dPt>
            <c:idx val="3"/>
            <c:invertIfNegative val="0"/>
            <c:bubble3D val="0"/>
            <c:spPr>
              <a:solidFill>
                <a:srgbClr val="8B1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2A-4549-A5F1-8A4254DF6444}"/>
              </c:ext>
            </c:extLst>
          </c:dPt>
          <c:dPt>
            <c:idx val="4"/>
            <c:invertIfNegative val="0"/>
            <c:bubble3D val="0"/>
            <c:spPr>
              <a:solidFill>
                <a:srgbClr val="C03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2A-4549-A5F1-8A4254DF6444}"/>
              </c:ext>
            </c:extLst>
          </c:dPt>
          <c:dPt>
            <c:idx val="5"/>
            <c:invertIfNegative val="0"/>
            <c:bubble3D val="0"/>
            <c:spPr>
              <a:solidFill>
                <a:srgbClr val="C03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2A-4549-A5F1-8A4254DF6444}"/>
              </c:ext>
            </c:extLst>
          </c:dPt>
          <c:dPt>
            <c:idx val="6"/>
            <c:invertIfNegative val="0"/>
            <c:bubble3D val="0"/>
            <c:spPr>
              <a:solidFill>
                <a:srgbClr val="E87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E2A-4549-A5F1-8A4254DF6444}"/>
              </c:ext>
            </c:extLst>
          </c:dPt>
          <c:dPt>
            <c:idx val="7"/>
            <c:invertIfNegative val="0"/>
            <c:bubble3D val="0"/>
            <c:spPr>
              <a:solidFill>
                <a:srgbClr val="E87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E2A-4549-A5F1-8A4254DF64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D1520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高30-39</c:v>
                </c:pt>
                <c:pt idx="1">
                  <c:v>高40-49</c:v>
                </c:pt>
                <c:pt idx="2">
                  <c:v>高50-59</c:v>
                </c:pt>
                <c:pt idx="3">
                  <c:v>高60+</c:v>
                </c:pt>
                <c:pt idx="4">
                  <c:v>中30-39</c:v>
                </c:pt>
                <c:pt idx="5">
                  <c:v>中40-49</c:v>
                </c:pt>
                <c:pt idx="6">
                  <c:v>低30-39</c:v>
                </c:pt>
                <c:pt idx="7">
                  <c:v>低40-49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31.3</c:v>
                </c:pt>
                <c:pt idx="1">
                  <c:v>80.099999999999994</c:v>
                </c:pt>
                <c:pt idx="2">
                  <c:v>55.4</c:v>
                </c:pt>
                <c:pt idx="3">
                  <c:v>52.9</c:v>
                </c:pt>
                <c:pt idx="4">
                  <c:v>1.8</c:v>
                </c:pt>
                <c:pt idx="5">
                  <c:v>7.2</c:v>
                </c:pt>
                <c:pt idx="6">
                  <c:v>0.5</c:v>
                </c:pt>
                <c:pt idx="7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E2A-4549-A5F1-8A4254DF64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4B8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0.07615</cdr:x>
      <cdr:y>0.72632</cdr:y>
    </cdr:from>
    <cdr:to>
      <cdr:x>0.98273</cdr:x>
      <cdr:y>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14AD9E21-A334-6A6A-CF04-1C3D30EF06DF}"/>
            </a:ext>
          </a:extLst>
        </cdr:cNvPr>
        <cdr:cNvSpPr txBox="1"/>
      </cdr:nvSpPr>
      <cdr:spPr>
        <a:xfrm xmlns:a="http://schemas.openxmlformats.org/drawingml/2006/main">
          <a:off x="369031" y="1911096"/>
          <a:ext cx="4393581" cy="7132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CN" sz="900" kern="1200" dirty="0"/>
            <a:t>High             </a:t>
          </a:r>
          <a:br>
            <a:rPr lang="en-CN" sz="900" kern="1200" dirty="0"/>
          </a:br>
          <a:r>
            <a:rPr lang="en-CN" sz="900" kern="1200" dirty="0"/>
            <a:t>30-39</a:t>
          </a:r>
        </a:p>
      </cdr:txBody>
    </cdr:sp>
  </cdr:relSizeAnchor>
  <cdr:relSizeAnchor xmlns:cdr="http://schemas.openxmlformats.org/drawingml/2006/chartDrawing">
    <cdr:from>
      <cdr:x>0.32925</cdr:x>
      <cdr:y>0.78246</cdr:y>
    </cdr:from>
    <cdr:to>
      <cdr:x>0.40189</cdr:x>
      <cdr:y>0.87505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54A9CC0E-98C3-27DF-8582-859566018925}"/>
            </a:ext>
          </a:extLst>
        </cdr:cNvPr>
        <cdr:cNvSpPr txBox="1"/>
      </cdr:nvSpPr>
      <cdr:spPr>
        <a:xfrm xmlns:a="http://schemas.openxmlformats.org/drawingml/2006/main">
          <a:off x="1595665" y="2039112"/>
          <a:ext cx="352007" cy="2413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CN" sz="1100" kern="1200" dirty="0"/>
        </a:p>
      </cdr:txBody>
    </cdr:sp>
  </cdr:relSizeAnchor>
  <cdr:relSizeAnchor xmlns:cdr="http://schemas.openxmlformats.org/drawingml/2006/chartDrawing">
    <cdr:from>
      <cdr:x>0.43962</cdr:x>
      <cdr:y>0.74737</cdr:y>
    </cdr:from>
    <cdr:to>
      <cdr:x>0.5</cdr:x>
      <cdr:y>0.87505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AD92CBE0-486C-EFCB-041D-2942D44FFB66}"/>
            </a:ext>
          </a:extLst>
        </cdr:cNvPr>
        <cdr:cNvSpPr txBox="1"/>
      </cdr:nvSpPr>
      <cdr:spPr>
        <a:xfrm xmlns:a="http://schemas.openxmlformats.org/drawingml/2006/main">
          <a:off x="2130552" y="1947672"/>
          <a:ext cx="292608" cy="3327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CN" sz="1100" kern="1200" dirty="0"/>
        </a:p>
      </cdr:txBody>
    </cdr:sp>
  </cdr:relSizeAnchor>
  <cdr:relSizeAnchor xmlns:cdr="http://schemas.openxmlformats.org/drawingml/2006/chartDrawing">
    <cdr:from>
      <cdr:x>0.43962</cdr:x>
      <cdr:y>0.74737</cdr:y>
    </cdr:from>
    <cdr:to>
      <cdr:x>0.5</cdr:x>
      <cdr:y>0.83158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4575A967-B385-82D7-8D2A-35D23BC3CE2C}"/>
            </a:ext>
          </a:extLst>
        </cdr:cNvPr>
        <cdr:cNvSpPr txBox="1"/>
      </cdr:nvSpPr>
      <cdr:spPr>
        <a:xfrm xmlns:a="http://schemas.openxmlformats.org/drawingml/2006/main">
          <a:off x="2130552" y="1947672"/>
          <a:ext cx="292608" cy="2194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CN" sz="1100" kern="1200" dirty="0"/>
        </a:p>
      </cdr:txBody>
    </cdr:sp>
  </cdr:relSizeAnchor>
  <cdr:relSizeAnchor xmlns:cdr="http://schemas.openxmlformats.org/drawingml/2006/chartDrawing">
    <cdr:from>
      <cdr:x>0.56395</cdr:x>
      <cdr:y>0.78246</cdr:y>
    </cdr:from>
    <cdr:to>
      <cdr:x>0.64717</cdr:x>
      <cdr:y>0.87505</cdr:y>
    </cdr:to>
    <cdr:sp macro="" textlink="">
      <cdr:nvSpPr>
        <cdr:cNvPr id="10" name="TextBox 9">
          <a:extLst xmlns:a="http://schemas.openxmlformats.org/drawingml/2006/main">
            <a:ext uri="{FF2B5EF4-FFF2-40B4-BE49-F238E27FC236}">
              <a16:creationId xmlns:a16="http://schemas.microsoft.com/office/drawing/2014/main" id="{ED877CF1-9A90-EEF0-E651-C71437867B64}"/>
            </a:ext>
          </a:extLst>
        </cdr:cNvPr>
        <cdr:cNvSpPr txBox="1"/>
      </cdr:nvSpPr>
      <cdr:spPr>
        <a:xfrm xmlns:a="http://schemas.openxmlformats.org/drawingml/2006/main">
          <a:off x="2733090" y="2039112"/>
          <a:ext cx="403302" cy="2413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CN" sz="1100" kern="1200" dirty="0"/>
        </a:p>
      </cdr:txBody>
    </cdr:sp>
  </cdr:relSizeAnchor>
  <cdr:relSizeAnchor xmlns:cdr="http://schemas.openxmlformats.org/drawingml/2006/chartDrawing">
    <cdr:from>
      <cdr:x>0.51205</cdr:x>
      <cdr:y>0.73105</cdr:y>
    </cdr:from>
    <cdr:to>
      <cdr:x>0.64717</cdr:x>
      <cdr:y>0.90298</cdr:y>
    </cdr:to>
    <cdr:sp macro="" textlink="">
      <cdr:nvSpPr>
        <cdr:cNvPr id="11" name="TextBox 10">
          <a:extLst xmlns:a="http://schemas.openxmlformats.org/drawingml/2006/main">
            <a:ext uri="{FF2B5EF4-FFF2-40B4-BE49-F238E27FC236}">
              <a16:creationId xmlns:a16="http://schemas.microsoft.com/office/drawing/2014/main" id="{EB85A0AF-D67C-A1D6-B73D-257DA92C14E9}"/>
            </a:ext>
          </a:extLst>
        </cdr:cNvPr>
        <cdr:cNvSpPr txBox="1"/>
      </cdr:nvSpPr>
      <cdr:spPr>
        <a:xfrm xmlns:a="http://schemas.openxmlformats.org/drawingml/2006/main">
          <a:off x="2481555" y="1905149"/>
          <a:ext cx="654837" cy="4480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CN" sz="900" kern="1200" dirty="0">
              <a:solidFill>
                <a:schemeClr val="tx1"/>
              </a:solidFill>
            </a:rPr>
            <a:t>Medium</a:t>
          </a:r>
          <a:br>
            <a:rPr lang="en-CN" sz="1100" kern="1200" dirty="0"/>
          </a:br>
          <a:r>
            <a:rPr lang="en-CN" sz="900" kern="1200" dirty="0">
              <a:solidFill>
                <a:schemeClr val="tx1"/>
              </a:solidFill>
            </a:rPr>
            <a:t>30-39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92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389120" cy="4389120"/>
          </a:xfrm>
          <a:prstGeom prst="ellipse">
            <a:avLst/>
          </a:prstGeom>
          <a:solidFill>
            <a:srgbClr val="C0396B">
              <a:alpha val="30000"/>
            </a:srgbClr>
          </a:solidFill>
          <a:ln w="12700">
            <a:solidFill>
              <a:srgbClr val="C039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E8769A">
              <a:alpha val="25000"/>
            </a:srgbClr>
          </a:solidFill>
          <a:ln w="12700">
            <a:solidFill>
              <a:srgbClr val="E8769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274320" y="3840480"/>
            <a:ext cx="1280160" cy="1280160"/>
          </a:xfrm>
          <a:prstGeom prst="ellipse">
            <a:avLst/>
          </a:prstGeom>
          <a:solidFill>
            <a:srgbClr val="E8769A">
              <a:alpha val="20000"/>
            </a:srgbClr>
          </a:solidFill>
          <a:ln w="12700">
            <a:solidFill>
              <a:srgbClr val="E876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8183880" y="201168"/>
            <a:ext cx="502920" cy="685800"/>
          </a:xfrm>
          <a:prstGeom prst="ellipse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8485632" y="201168"/>
            <a:ext cx="502920" cy="685800"/>
          </a:xfrm>
          <a:prstGeom prst="ellipse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8321040" y="658368"/>
            <a:ext cx="164592" cy="502920"/>
          </a:xfrm>
          <a:prstGeom prst="rect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502920" y="50292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E8769A">
              <a:alpha val="70000"/>
            </a:srgbClr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0292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4B8CB"/>
                </a:solidFill>
              </a:rPr>
              <a:t>Breast Cancer Screening </a:t>
            </a:r>
          </a:p>
          <a:p>
            <a:pPr algn="ctr"/>
            <a:r>
              <a:rPr lang="en-US" sz="1000" dirty="0">
                <a:solidFill>
                  <a:srgbClr val="F4B8CB"/>
                </a:solidFill>
              </a:rPr>
              <a:t>Decision Optimization 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Cancer Screening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using MDP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5303520" cy="13716"/>
          </a:xfrm>
          <a:prstGeom prst="rect">
            <a:avLst/>
          </a:prstGeom>
          <a:solidFill>
            <a:srgbClr val="F4B8CB">
              <a:alpha val="60000"/>
            </a:srgbClr>
          </a:solidFill>
          <a:ln w="12700">
            <a:solidFill>
              <a:srgbClr val="F4B8C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B8CB"/>
                </a:solidFill>
              </a:rPr>
              <a:t>Policy Iteration  ·  </a:t>
            </a:r>
            <a:r>
              <a:rPr lang="en-US" sz="1150" b="1" dirty="0">
                <a:solidFill>
                  <a:srgbClr val="C8882A"/>
                </a:solidFill>
              </a:rPr>
              <a:t>USPSTF 2024 Aligned</a:t>
            </a:r>
            <a:r>
              <a:rPr lang="en-US" sz="1150" dirty="0">
                <a:solidFill>
                  <a:srgbClr val="F4B8CB"/>
                </a:solidFill>
              </a:rPr>
              <a:t>  ·  Biennial Model  ·  QALY Maximization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33414" y="4663440"/>
            <a:ext cx="70991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B8CB"/>
                </a:solidFill>
              </a:rPr>
              <a:t>Data Sources: SEER 2018-2022 · SSA Life Tables 2022 · Antoniou 2003 · Kaur et al. 2022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77724"/>
            <a:ext cx="9144000" cy="841248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-506554" y="79951"/>
            <a:ext cx="30796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Problem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19933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C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1993392" cy="292608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56032" y="1207008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18836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women develop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breast cancer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868680"/>
            <a:ext cx="19933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C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432304" y="868680"/>
            <a:ext cx="1993392" cy="292608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432304" y="1207008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32304" y="18836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new US cases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per year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868680"/>
            <a:ext cx="19933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C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608576" y="868680"/>
            <a:ext cx="1993392" cy="29260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608576" y="1207008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08576" y="18836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early-stage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5-yr survival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84848" y="868680"/>
            <a:ext cx="19933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C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784848" y="868680"/>
            <a:ext cx="1993392" cy="292608"/>
          </a:xfrm>
          <a:prstGeom prst="rect">
            <a:avLst/>
          </a:prstGeom>
          <a:solidFill>
            <a:srgbClr val="6B5560"/>
          </a:solidFill>
          <a:ln w="12700">
            <a:solidFill>
              <a:srgbClr val="6B55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84848" y="1207008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5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32.6%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84848" y="18836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late-stage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560"/>
                </a:solidFill>
              </a:rPr>
              <a:t>5-yr survival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578608"/>
            <a:ext cx="8650224" cy="841248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20040" y="2624328"/>
            <a:ext cx="713232" cy="713232"/>
          </a:xfrm>
          <a:prstGeom prst="ellipse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320040" y="2624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?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15568" y="2624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B8CB"/>
                </a:solidFill>
              </a:rPr>
              <a:t>Core question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5568" y="2898648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Should a woman undergo breast cancer screening in this 2-year period?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58444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109728" cy="137160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457200" y="36301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8B1A4A"/>
                </a:solidFill>
              </a:rPr>
              <a:t>🎀 USPSTF 2024 guidance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950208"/>
            <a:ext cx="32160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1520"/>
                </a:solidFill>
              </a:rPr>
              <a:t>1. It is recommended that women aged 40–74 undergo mammography screening every 2 years (Grade B recommendation). </a:t>
            </a:r>
            <a:br>
              <a:rPr lang="en-US" sz="900" dirty="0">
                <a:solidFill>
                  <a:srgbClr val="2D1520"/>
                </a:solidFill>
              </a:rPr>
            </a:br>
            <a:r>
              <a:rPr lang="en-US" sz="900" dirty="0">
                <a:solidFill>
                  <a:srgbClr val="2D1520"/>
                </a:solidFill>
              </a:rPr>
              <a:t>2. The starting age will be lowered from 50 to 40 in 2024.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1520"/>
                </a:solidFill>
              </a:rPr>
              <a:t>3. Biennial mammography for women aged 40-74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3584448"/>
            <a:ext cx="4224528" cy="13716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84632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82A"/>
                </a:solidFill>
              </a:rPr>
              <a:t>Research Objective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95020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</a:rPr>
              <a:t>By employing Markov Decision Process (MDP) and strategy iteration algorithms, the optimal biennial breast cancer screening strategy that maximizes the expected cumulative quality-adjusted life year (QALY) was found.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5740"/>
            <a:ext cx="8650224" cy="6858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" name="Shape 1"/>
          <p:cNvSpPr/>
          <p:nvPr/>
        </p:nvSpPr>
        <p:spPr>
          <a:xfrm>
            <a:off x="193782" y="690372"/>
            <a:ext cx="8650224" cy="45719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510" y="82296"/>
            <a:ext cx="3408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MDP Framework &amp; State 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27632" cy="10058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3167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3×4×6 = 72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822960"/>
            <a:ext cx="1627632" cy="100584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984248" y="8412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84248" y="13167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Action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{Screen, Wait}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39896" y="822960"/>
            <a:ext cx="1627632" cy="10058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739896" y="8412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39896" y="13167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</a:rPr>
              <a:t>Transition probability</a:t>
            </a:r>
          </a:p>
          <a:p>
            <a:pPr algn="ctr"/>
            <a:r>
              <a:rPr lang="en-US" sz="850" dirty="0">
                <a:solidFill>
                  <a:srgbClr val="FFFFFF"/>
                </a:solidFill>
              </a:rPr>
              <a:t>P₂=1-(1-Pₐ)²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95544" y="822960"/>
            <a:ext cx="1627632" cy="1005840"/>
          </a:xfrm>
          <a:prstGeom prst="rect">
            <a:avLst/>
          </a:prstGeom>
          <a:solidFill>
            <a:srgbClr val="C8882A"/>
          </a:solidFill>
          <a:ln w="12700">
            <a:solidFill>
              <a:srgbClr val="C8882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495544" y="8412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95544" y="13167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</a:rPr>
              <a:t>Reward function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QALY / epoch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51192" y="822960"/>
            <a:ext cx="1627632" cy="1005840"/>
          </a:xfrm>
          <a:prstGeom prst="rect">
            <a:avLst/>
          </a:prstGeom>
          <a:solidFill>
            <a:srgbClr val="6B5560"/>
          </a:solidFill>
          <a:ln w="12700">
            <a:solidFill>
              <a:srgbClr val="6B5560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7251192" y="8412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51192" y="13167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</a:rPr>
              <a:t>Discount factor</a:t>
            </a:r>
          </a:p>
          <a:p>
            <a:pPr algn="ctr"/>
            <a:r>
              <a:rPr lang="en-US" sz="850" dirty="0">
                <a:solidFill>
                  <a:srgbClr val="FFFFFF"/>
                </a:solidFill>
              </a:rPr>
              <a:t>0.97²≈0.94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196596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28600" y="1965960"/>
            <a:ext cx="2651760" cy="34747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22860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Level ×3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423160"/>
            <a:ext cx="2395728" cy="73152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411480" y="2578608"/>
            <a:ext cx="411480" cy="411480"/>
          </a:xfrm>
          <a:prstGeom prst="ellipse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886968" y="2468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520"/>
                </a:solidFill>
              </a:rPr>
              <a:t>High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6968" y="27523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5560"/>
                </a:solidFill>
              </a:rPr>
              <a:t>BRCA1/2 carriers · RR 12.5–24.5×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" y="3246120"/>
            <a:ext cx="2395728" cy="73152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411480" y="3401568"/>
            <a:ext cx="411480" cy="411480"/>
          </a:xfrm>
          <a:prstGeom prst="ellipse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886968" y="32918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520"/>
                </a:solidFill>
              </a:rPr>
              <a:t> Medium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6968" y="35753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5560"/>
                </a:solidFill>
              </a:rPr>
              <a:t>A first-degree relative has cancer · HR 2.0×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4069080"/>
            <a:ext cx="2395728" cy="73152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411480" y="4224528"/>
            <a:ext cx="411480" cy="411480"/>
          </a:xfrm>
          <a:prstGeom prst="ellipse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886968" y="4114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520"/>
                </a:solidFill>
              </a:rPr>
              <a:t>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6968" y="43982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5560"/>
                </a:solidFill>
              </a:rPr>
              <a:t>General population · SEER baseline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08960" y="1965960"/>
            <a:ext cx="2651760" cy="347472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310896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 Group ×4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18688" y="2423160"/>
            <a:ext cx="320040" cy="475488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3218688" y="24231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21024" y="2441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520"/>
                </a:solidFill>
              </a:rPr>
              <a:t>30–39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21024" y="26609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B5560"/>
                </a:solidFill>
              </a:rPr>
              <a:t>Age range before screening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18688" y="3044952"/>
            <a:ext cx="320040" cy="47548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3218688" y="304495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21024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520"/>
                </a:solidFill>
              </a:rPr>
              <a:t>40–49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21024" y="3282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B5560"/>
                </a:solidFill>
              </a:rPr>
              <a:t>USPSTF 2024 Additions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18688" y="3666744"/>
            <a:ext cx="320040" cy="475488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3218688" y="3666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21024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520"/>
                </a:solidFill>
              </a:rPr>
              <a:t>50–59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21024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B5560"/>
                </a:solidFill>
              </a:rPr>
              <a:t>Standard screening age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18688" y="4288536"/>
            <a:ext cx="320040" cy="47548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3218688" y="428853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21024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520"/>
                </a:solidFill>
              </a:rPr>
              <a:t>Over 60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21024" y="4526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B5560"/>
                </a:solidFill>
              </a:rPr>
              <a:t>Continue screening until age 74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89320" y="1965960"/>
            <a:ext cx="2926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6" name="Shape 54"/>
          <p:cNvSpPr/>
          <p:nvPr/>
        </p:nvSpPr>
        <p:spPr>
          <a:xfrm>
            <a:off x="5989320" y="1965960"/>
            <a:ext cx="2926080" cy="34747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598932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 Status ×6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62472" y="2450592"/>
            <a:ext cx="91440" cy="2743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6236208" y="2395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Healthy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138160" y="23957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8B1A4A"/>
                </a:solidFill>
              </a:rPr>
              <a:t>Decision needed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62472" y="2871216"/>
            <a:ext cx="91440" cy="2743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6236208" y="2816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Early-Undetected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138160" y="28163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8B1A4A"/>
                </a:solidFill>
              </a:rPr>
              <a:t>Decision needed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62472" y="3291840"/>
            <a:ext cx="91440" cy="274320"/>
          </a:xfrm>
          <a:prstGeom prst="rect">
            <a:avLst/>
          </a:prstGeom>
          <a:solidFill>
            <a:srgbClr val="D4C5CA"/>
          </a:solidFill>
          <a:ln w="12700">
            <a:solidFill>
              <a:srgbClr val="D4C5C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6236208" y="32369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Early-Detected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752862" y="3236976"/>
            <a:ext cx="1098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D4C5CA"/>
                </a:solidFill>
              </a:rPr>
              <a:t>Automatic transfer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062472" y="3712464"/>
            <a:ext cx="91440" cy="2743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6236208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Cured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138160" y="36576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8B1A4A"/>
                </a:solidFill>
              </a:rPr>
              <a:t>Decision needed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062472" y="4133088"/>
            <a:ext cx="91440" cy="274320"/>
          </a:xfrm>
          <a:prstGeom prst="rect">
            <a:avLst/>
          </a:prstGeom>
          <a:solidFill>
            <a:srgbClr val="D4C5CA"/>
          </a:solidFill>
          <a:ln w="12700">
            <a:solidFill>
              <a:srgbClr val="D4C5C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236208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Advanced 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956062" y="4078224"/>
            <a:ext cx="895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D4C5CA"/>
                </a:solidFill>
              </a:rPr>
              <a:t>Automatic transfer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62472" y="4553712"/>
            <a:ext cx="91440" cy="274320"/>
          </a:xfrm>
          <a:prstGeom prst="rect">
            <a:avLst/>
          </a:prstGeom>
          <a:solidFill>
            <a:srgbClr val="6B5560"/>
          </a:solidFill>
          <a:ln w="12700">
            <a:solidFill>
              <a:srgbClr val="6B55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6236208" y="4498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Dead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138160" y="449884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/>
              <a:t>Absorbing State</a:t>
            </a:r>
            <a:endParaRPr lang="en-US" sz="750" dirty="0"/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9662D275-E2ED-31F7-E92E-64542D082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24213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Model Parameters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879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187952" cy="3200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（%）Cancer Incidence 2-yr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89388"/>
              </p:ext>
            </p:extLst>
          </p:nvPr>
        </p:nvGraphicFramePr>
        <p:xfrm>
          <a:off x="256032" y="1179576"/>
          <a:ext cx="4096512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30-39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40-49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50-59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60+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high(BRCA)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2.40%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7.07%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7.58%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10.56%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medium(Family)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0.20%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0.69%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1.03%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1.73%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low(General)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0.10%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0.34%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1520"/>
                          </a:solidFill>
                        </a:rPr>
                        <a:t>0.52%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0.87%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27448" y="841248"/>
            <a:ext cx="41879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87952" cy="32004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4727448" y="84124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Screening Accuracy</a:t>
            </a:r>
            <a:endParaRPr lang="en-US" sz="9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03274"/>
              </p:ext>
            </p:extLst>
          </p:nvPr>
        </p:nvGraphicFramePr>
        <p:xfrm>
          <a:off x="4754880" y="1179576"/>
          <a:ext cx="4114800" cy="19202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Sensitivity</a:t>
                      </a:r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Specificity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30-39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75%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High breast density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40-49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78%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85%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Density transition period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50-59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85%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90%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Density decrease</a:t>
                      </a:r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60+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87%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1520"/>
                          </a:solidFill>
                        </a:rPr>
                        <a:t>92%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Lowest density</a:t>
                      </a:r>
                    </a:p>
                  </a:txBody>
                  <a:tcPr>
                    <a:lnL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228600" y="3172968"/>
            <a:ext cx="41879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1"/>
          <p:cNvSpPr/>
          <p:nvPr/>
        </p:nvSpPr>
        <p:spPr>
          <a:xfrm>
            <a:off x="228600" y="3172968"/>
            <a:ext cx="4187952" cy="3200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2"/>
          <p:cNvSpPr/>
          <p:nvPr/>
        </p:nvSpPr>
        <p:spPr>
          <a:xfrm>
            <a:off x="228600" y="317296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Disease Progression (2-yr)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2D1520"/>
                </a:solidFill>
              </a:rPr>
              <a:t>Early stage undetected → Late stage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24912" y="3630168"/>
            <a:ext cx="137160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5"/>
          <p:cNvSpPr/>
          <p:nvPr/>
        </p:nvSpPr>
        <p:spPr>
          <a:xfrm>
            <a:off x="2724912" y="3630168"/>
            <a:ext cx="640537" cy="18288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6"/>
          <p:cNvSpPr/>
          <p:nvPr/>
        </p:nvSpPr>
        <p:spPr>
          <a:xfrm>
            <a:off x="4133088" y="3584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4A"/>
                </a:solidFill>
              </a:rPr>
              <a:t>46.7%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47472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2D1520"/>
                </a:solidFill>
              </a:rPr>
              <a:t>Early detection → Cured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24912" y="3977640"/>
            <a:ext cx="137160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19"/>
          <p:cNvSpPr/>
          <p:nvPr/>
        </p:nvSpPr>
        <p:spPr>
          <a:xfrm>
            <a:off x="2724912" y="3977640"/>
            <a:ext cx="1234440" cy="18288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0"/>
          <p:cNvSpPr/>
          <p:nvPr/>
        </p:nvSpPr>
        <p:spPr>
          <a:xfrm>
            <a:off x="4133088" y="3931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4A"/>
                </a:solidFill>
              </a:rPr>
              <a:t>90.0%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47472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2D1520"/>
                </a:solidFill>
              </a:rPr>
              <a:t>Cure → Relapse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724912" y="4325112"/>
            <a:ext cx="137160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3"/>
          <p:cNvSpPr/>
          <p:nvPr/>
        </p:nvSpPr>
        <p:spPr>
          <a:xfrm>
            <a:off x="2724912" y="4325112"/>
            <a:ext cx="43891" cy="18288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4"/>
          <p:cNvSpPr/>
          <p:nvPr/>
        </p:nvSpPr>
        <p:spPr>
          <a:xfrm>
            <a:off x="4133088" y="42793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4A"/>
                </a:solidFill>
              </a:rPr>
              <a:t>3.2%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47472" y="4626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2D1520"/>
                </a:solidFill>
              </a:rPr>
              <a:t>Late stage → Death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24912" y="4672584"/>
            <a:ext cx="137160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7"/>
          <p:cNvSpPr/>
          <p:nvPr/>
        </p:nvSpPr>
        <p:spPr>
          <a:xfrm>
            <a:off x="2724912" y="4672584"/>
            <a:ext cx="495148" cy="18288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28"/>
          <p:cNvSpPr/>
          <p:nvPr/>
        </p:nvSpPr>
        <p:spPr>
          <a:xfrm>
            <a:off x="4133088" y="46268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4A"/>
                </a:solidFill>
              </a:rPr>
              <a:t>36.1%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727448" y="3172968"/>
            <a:ext cx="41879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4" name="Shape 30"/>
          <p:cNvSpPr/>
          <p:nvPr/>
        </p:nvSpPr>
        <p:spPr>
          <a:xfrm>
            <a:off x="4727448" y="3172968"/>
            <a:ext cx="4187952" cy="320040"/>
          </a:xfrm>
          <a:prstGeom prst="rect">
            <a:avLst/>
          </a:prstGeom>
          <a:solidFill>
            <a:srgbClr val="C8882A"/>
          </a:solidFill>
          <a:ln w="12700">
            <a:solidFill>
              <a:srgbClr val="C8882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1"/>
          <p:cNvSpPr/>
          <p:nvPr/>
        </p:nvSpPr>
        <p:spPr>
          <a:xfrm>
            <a:off x="4727448" y="317296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 Utility (QALY/yr)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828032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2D1520"/>
                </a:solidFill>
              </a:rPr>
              <a:t>Health / Early Undetected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949440" y="3630168"/>
            <a:ext cx="150876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4"/>
          <p:cNvSpPr/>
          <p:nvPr/>
        </p:nvSpPr>
        <p:spPr>
          <a:xfrm>
            <a:off x="6949440" y="3630168"/>
            <a:ext cx="1508760" cy="18288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5"/>
          <p:cNvSpPr/>
          <p:nvPr/>
        </p:nvSpPr>
        <p:spPr>
          <a:xfrm>
            <a:off x="8485632" y="3584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4A"/>
                </a:solidFill>
              </a:rPr>
              <a:t>1.00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828032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Cured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949440" y="3977640"/>
            <a:ext cx="150876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38"/>
          <p:cNvSpPr/>
          <p:nvPr/>
        </p:nvSpPr>
        <p:spPr>
          <a:xfrm>
            <a:off x="6949440" y="3977640"/>
            <a:ext cx="1327709" cy="18288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39"/>
          <p:cNvSpPr/>
          <p:nvPr/>
        </p:nvSpPr>
        <p:spPr>
          <a:xfrm>
            <a:off x="8485632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4A"/>
                </a:solidFill>
              </a:rPr>
              <a:t>0.88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4828032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Detected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949440" y="4325112"/>
            <a:ext cx="150876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2"/>
          <p:cNvSpPr/>
          <p:nvPr/>
        </p:nvSpPr>
        <p:spPr>
          <a:xfrm>
            <a:off x="6949440" y="4325112"/>
            <a:ext cx="1071220" cy="18288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Text 43"/>
          <p:cNvSpPr/>
          <p:nvPr/>
        </p:nvSpPr>
        <p:spPr>
          <a:xfrm>
            <a:off x="8485632" y="4279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4A"/>
                </a:solidFill>
              </a:rPr>
              <a:t>0.71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828032" y="4626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1520"/>
                </a:solidFill>
              </a:rPr>
              <a:t>Advanced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6949440" y="4672584"/>
            <a:ext cx="1508760" cy="18288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Shape 46"/>
          <p:cNvSpPr/>
          <p:nvPr/>
        </p:nvSpPr>
        <p:spPr>
          <a:xfrm>
            <a:off x="6949440" y="4672584"/>
            <a:ext cx="678942" cy="18288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7"/>
          <p:cNvSpPr/>
          <p:nvPr/>
        </p:nvSpPr>
        <p:spPr>
          <a:xfrm>
            <a:off x="8485632" y="4626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4A"/>
                </a:solidFill>
              </a:rPr>
              <a:t>0.45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6858"/>
            <a:ext cx="9144000" cy="6858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79520" y="0"/>
            <a:ext cx="3079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&amp; Reward Function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709160" cy="3200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28600" y="822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State Transition Diagram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1673352" cy="5486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Healthy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0360" y="1371600"/>
            <a:ext cx="1719072" cy="526284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Early-Undetected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80360" y="2450592"/>
            <a:ext cx="1719072" cy="53035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606040" y="245059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Early-Detected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1673352" cy="530352"/>
          </a:xfrm>
          <a:prstGeom prst="rect">
            <a:avLst/>
          </a:prstGeom>
          <a:solidFill>
            <a:srgbClr val="C8882A"/>
          </a:solidFill>
          <a:ln w="12700">
            <a:solidFill>
              <a:srgbClr val="C8882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 dirty="0"/>
          </a:p>
        </p:txBody>
      </p:sp>
      <p:sp>
        <p:nvSpPr>
          <p:cNvPr id="16" name="Text 14"/>
          <p:cNvSpPr/>
          <p:nvPr/>
        </p:nvSpPr>
        <p:spPr>
          <a:xfrm>
            <a:off x="499253" y="2611285"/>
            <a:ext cx="1339397" cy="34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80360" y="3499866"/>
            <a:ext cx="1719072" cy="539496"/>
          </a:xfrm>
          <a:prstGeom prst="rect">
            <a:avLst/>
          </a:prstGeom>
          <a:solidFill>
            <a:srgbClr val="6B5560"/>
          </a:solidFill>
          <a:ln w="12700">
            <a:solidFill>
              <a:srgbClr val="6B5560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2606040" y="3520440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Advanced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12362" y="4385054"/>
            <a:ext cx="1764792" cy="50063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213373" y="4485638"/>
            <a:ext cx="804673" cy="35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04872" y="1773936"/>
            <a:ext cx="201168" cy="0"/>
          </a:xfrm>
          <a:prstGeom prst="line">
            <a:avLst/>
          </a:prstGeom>
          <a:noFill/>
          <a:ln w="19050">
            <a:solidFill>
              <a:srgbClr val="C0396B"/>
            </a:solidFill>
            <a:prstDash val="solid"/>
            <a:tailEnd type="arrow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949783" y="1527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>
                <a:solidFill>
                  <a:srgbClr val="C0396B"/>
                </a:solidFill>
              </a:rPr>
              <a:t>Onset of illness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15710" y="2050757"/>
            <a:ext cx="0" cy="274320"/>
          </a:xfrm>
          <a:prstGeom prst="line">
            <a:avLst/>
          </a:prstGeom>
          <a:noFill/>
          <a:ln w="19050">
            <a:solidFill>
              <a:srgbClr val="E8769A"/>
            </a:solidFill>
            <a:prstDash val="solid"/>
            <a:tailEnd type="arrow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3730752" y="217220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8769A"/>
                </a:solidFill>
              </a:rPr>
              <a:t>Screening found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E8769A"/>
                </a:solidFill>
              </a:rPr>
              <a:t>75-87%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15710" y="3122676"/>
            <a:ext cx="0" cy="265176"/>
          </a:xfrm>
          <a:prstGeom prst="line">
            <a:avLst/>
          </a:prstGeom>
          <a:noFill/>
          <a:ln w="19050">
            <a:solidFill>
              <a:srgbClr val="C8882A"/>
            </a:solidFill>
            <a:prstDash val="solid"/>
            <a:tailEnd type="arrow"/>
          </a:ln>
        </p:spPr>
        <p:txBody>
          <a:bodyPr/>
          <a:lstStyle/>
          <a:p>
            <a:endParaRPr lang="en-CN" dirty="0"/>
          </a:p>
        </p:txBody>
      </p:sp>
      <p:sp>
        <p:nvSpPr>
          <p:cNvPr id="26" name="Shape 24"/>
          <p:cNvSpPr/>
          <p:nvPr/>
        </p:nvSpPr>
        <p:spPr>
          <a:xfrm>
            <a:off x="2404872" y="3922776"/>
            <a:ext cx="0" cy="0"/>
          </a:xfrm>
          <a:prstGeom prst="line">
            <a:avLst/>
          </a:prstGeom>
          <a:noFill/>
          <a:ln w="19050">
            <a:solidFill>
              <a:srgbClr val="C8882A"/>
            </a:solidFill>
            <a:prstDash val="solid"/>
            <a:tailEnd type="arrow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2238788" y="2807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8882A"/>
                </a:solidFill>
              </a:rPr>
              <a:t>Cured 90%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30752" y="33101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5560"/>
                </a:solidFill>
              </a:rPr>
              <a:t>Failure 10%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15710" y="4096512"/>
            <a:ext cx="5314" cy="265176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arrow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767328" y="4163701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A4A4A"/>
                </a:solidFill>
              </a:rPr>
              <a:t>Death 36.1% per 2y (20.1%/yr)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26464" y="3520440"/>
            <a:ext cx="0" cy="0"/>
          </a:xfrm>
          <a:prstGeom prst="line">
            <a:avLst/>
          </a:prstGeom>
          <a:noFill/>
          <a:ln w="15240">
            <a:solidFill>
              <a:srgbClr val="F4B8CB"/>
            </a:solidFill>
            <a:prstDash val="dash"/>
            <a:tailEnd type="arrow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5120640" y="822960"/>
            <a:ext cx="3794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5120640" y="822960"/>
            <a:ext cx="3794760" cy="32004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5120640" y="8229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Reward Function R(s,a)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85232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4A"/>
                </a:solidFill>
              </a:rPr>
              <a:t>Formula: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12080" y="1508760"/>
            <a:ext cx="3611880" cy="7772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5303520" y="1527048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R(s,a) = State QALY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Screening 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FP Cost (if applicable)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85232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6B"/>
                </a:solidFill>
              </a:rPr>
              <a:t>Calculation Example （Low Risk, 40-49, Healthy, Screen）: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12080" y="2724912"/>
            <a:ext cx="3611880" cy="1234440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5321808" y="2761488"/>
            <a:ext cx="3438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8B1A4A"/>
                </a:solidFill>
              </a:rPr>
              <a:t>= 2.00</a:t>
            </a:r>
            <a:r>
              <a:rPr lang="en-US" sz="950" dirty="0">
                <a:solidFill>
                  <a:srgbClr val="6B5560"/>
                </a:solidFill>
              </a:rPr>
              <a:t>  (Health × 2 years)
</a:t>
            </a:r>
            <a:r>
              <a:rPr lang="en-US" sz="950" dirty="0">
                <a:solidFill>
                  <a:srgbClr val="C0396B"/>
                </a:solidFill>
              </a:rPr>
              <a:t>− 0.000115</a:t>
            </a:r>
            <a:r>
              <a:rPr lang="en-US" sz="950" dirty="0">
                <a:solidFill>
                  <a:srgbClr val="6B5560"/>
                </a:solidFill>
              </a:rPr>
              <a:t>  (Screening discomfort)
</a:t>
            </a:r>
            <a:r>
              <a:rPr lang="en-US" sz="950" dirty="0">
                <a:solidFill>
                  <a:srgbClr val="E8769A"/>
                </a:solidFill>
              </a:rPr>
              <a:t>− 0.00149</a:t>
            </a:r>
            <a:r>
              <a:rPr lang="en-US" sz="950" dirty="0">
                <a:solidFill>
                  <a:srgbClr val="6B5560"/>
                </a:solidFill>
              </a:rPr>
              <a:t>  (Expected Cost of False Positives)
</a:t>
            </a:r>
            <a:r>
              <a:rPr lang="en-US" sz="950" b="1" dirty="0">
                <a:solidFill>
                  <a:srgbClr val="8B1A4A"/>
                </a:solidFill>
              </a:rPr>
              <a:t>= 1.998 QALY 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4059936"/>
            <a:ext cx="3611880" cy="347472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212080" y="4059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i="1" dirty="0">
                <a:solidFill>
                  <a:srgbClr val="6B5560"/>
                </a:solidFill>
              </a:rPr>
              <a:t>Interpretation:</a:t>
            </a:r>
          </a:p>
          <a:p>
            <a:pPr algn="ctr"/>
            <a:r>
              <a:rPr lang="en-US" sz="800" i="1" dirty="0">
                <a:solidFill>
                  <a:srgbClr val="6B5560"/>
                </a:solidFill>
              </a:rPr>
              <a:t>Expected total screening-related disutility</a:t>
            </a:r>
            <a:r>
              <a:rPr lang="en-US" sz="850" i="1" dirty="0">
                <a:solidFill>
                  <a:srgbClr val="6B5560"/>
                </a:solidFill>
              </a:rPr>
              <a:t>≈0.002 QALY（ Less than 1 day) The benefits far outweigh the costs.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12080" y="4480560"/>
            <a:ext cx="3611880" cy="384048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5212080" y="44805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🎀 Key Insight: Even with a low probability of early detection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the benefits outweigh the costs.</a:t>
            </a:r>
            <a:endParaRPr lang="en-US" sz="900" dirty="0"/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CC8B673F-3FBD-2DA0-79AC-C10563ADC207}"/>
              </a:ext>
            </a:extLst>
          </p:cNvPr>
          <p:cNvSpPr/>
          <p:nvPr/>
        </p:nvSpPr>
        <p:spPr>
          <a:xfrm>
            <a:off x="5120640" y="1175004"/>
            <a:ext cx="3937703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>
                <a:solidFill>
                  <a:srgbClr val="6B5560"/>
                </a:solidFill>
              </a:rPr>
              <a:t>Input: Screening cost: −0.000115 QALY  · False positive cost : −0.010 QALY</a:t>
            </a:r>
            <a:endParaRPr lang="en-US" sz="750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5CB2B15E-5031-9487-25BD-6FB68107AF04}"/>
              </a:ext>
            </a:extLst>
          </p:cNvPr>
          <p:cNvSpPr/>
          <p:nvPr/>
        </p:nvSpPr>
        <p:spPr>
          <a:xfrm flipH="1" flipV="1">
            <a:off x="2359152" y="2761488"/>
            <a:ext cx="286826" cy="0"/>
          </a:xfrm>
          <a:prstGeom prst="line">
            <a:avLst/>
          </a:prstGeom>
          <a:noFill/>
          <a:ln w="19050">
            <a:solidFill>
              <a:srgbClr val="C8882A"/>
            </a:solidFill>
            <a:prstDash val="solid"/>
            <a:tailEnd type="arrow"/>
          </a:ln>
        </p:spPr>
        <p:txBody>
          <a:bodyPr/>
          <a:lstStyle/>
          <a:p>
            <a:endParaRPr lang="en-CN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3E927286-FDD7-5BCA-267A-6E491042AB09}"/>
              </a:ext>
            </a:extLst>
          </p:cNvPr>
          <p:cNvSpPr/>
          <p:nvPr/>
        </p:nvSpPr>
        <p:spPr>
          <a:xfrm>
            <a:off x="411480" y="3347102"/>
            <a:ext cx="1655053" cy="49377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C8882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E667A9-7B33-1CFC-37DD-FB3439615B4A}"/>
              </a:ext>
            </a:extLst>
          </p:cNvPr>
          <p:cNvSpPr txBox="1"/>
          <p:nvPr/>
        </p:nvSpPr>
        <p:spPr>
          <a:xfrm>
            <a:off x="627846" y="3486268"/>
            <a:ext cx="122735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Recurrence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719221-B6F9-A10D-0FB5-F1699D3E0F0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599432" y="1634742"/>
            <a:ext cx="338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AF1BBD-E486-BE4E-75C1-45A5E9B2844C}"/>
              </a:ext>
            </a:extLst>
          </p:cNvPr>
          <p:cNvCxnSpPr/>
          <p:nvPr/>
        </p:nvCxnSpPr>
        <p:spPr>
          <a:xfrm>
            <a:off x="4599432" y="3792474"/>
            <a:ext cx="338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8E105A3-4621-85C4-DD45-B338D7C3ED01}"/>
              </a:ext>
            </a:extLst>
          </p:cNvPr>
          <p:cNvCxnSpPr/>
          <p:nvPr/>
        </p:nvCxnSpPr>
        <p:spPr>
          <a:xfrm>
            <a:off x="4937760" y="1634742"/>
            <a:ext cx="0" cy="2157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58497DB-AF04-8793-F6EB-4FD16F6AD42B}"/>
              </a:ext>
            </a:extLst>
          </p:cNvPr>
          <p:cNvSpPr txBox="1"/>
          <p:nvPr/>
        </p:nvSpPr>
        <p:spPr>
          <a:xfrm>
            <a:off x="4708351" y="2547110"/>
            <a:ext cx="5386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>
                <a:solidFill>
                  <a:srgbClr val="6B5560"/>
                </a:solidFill>
              </a:rPr>
              <a:t>27%/year</a:t>
            </a:r>
          </a:p>
          <a:p>
            <a:endParaRPr lang="en-C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D4DB71-D9F9-36B7-1C46-571F4EB6E2BF}"/>
              </a:ext>
            </a:extLst>
          </p:cNvPr>
          <p:cNvSpPr txBox="1"/>
          <p:nvPr/>
        </p:nvSpPr>
        <p:spPr>
          <a:xfrm>
            <a:off x="1283991" y="3063795"/>
            <a:ext cx="1137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>
                <a:solidFill>
                  <a:srgbClr val="6B5560"/>
                </a:solidFill>
              </a:rPr>
              <a:t>rate 1.6%/yr</a:t>
            </a:r>
            <a:br>
              <a:rPr lang="en-US" sz="700" i="1" dirty="0">
                <a:solidFill>
                  <a:srgbClr val="6B5560"/>
                </a:solidFill>
              </a:rPr>
            </a:br>
            <a:r>
              <a:rPr lang="en-US" sz="700" i="1" dirty="0">
                <a:solidFill>
                  <a:srgbClr val="6B5560"/>
                </a:solidFill>
              </a:rPr>
              <a:t>(≈3.2% per 2y)</a:t>
            </a:r>
            <a:endParaRPr lang="en-CN" sz="700" i="1" dirty="0">
              <a:solidFill>
                <a:srgbClr val="6B5560"/>
              </a:solidFill>
            </a:endParaRPr>
          </a:p>
        </p:txBody>
      </p:sp>
      <p:sp>
        <p:nvSpPr>
          <p:cNvPr id="75" name="Shape 23">
            <a:extLst>
              <a:ext uri="{FF2B5EF4-FFF2-40B4-BE49-F238E27FC236}">
                <a16:creationId xmlns:a16="http://schemas.microsoft.com/office/drawing/2014/main" id="{945EB164-5459-CBD2-E9B6-6D289FE0FE8E}"/>
              </a:ext>
            </a:extLst>
          </p:cNvPr>
          <p:cNvSpPr/>
          <p:nvPr/>
        </p:nvSpPr>
        <p:spPr>
          <a:xfrm>
            <a:off x="1287303" y="3058204"/>
            <a:ext cx="0" cy="265176"/>
          </a:xfrm>
          <a:prstGeom prst="line">
            <a:avLst/>
          </a:prstGeom>
          <a:noFill/>
          <a:ln w="19050">
            <a:solidFill>
              <a:srgbClr val="C8882A"/>
            </a:solidFill>
            <a:prstDash val="solid"/>
            <a:tailEnd type="arrow"/>
          </a:ln>
        </p:spPr>
        <p:txBody>
          <a:bodyPr/>
          <a:lstStyle/>
          <a:p>
            <a:endParaRPr lang="en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2008554" y="0"/>
            <a:ext cx="34321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2409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Iteration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11680" cy="9601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011680" cy="914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28600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4B8CB"/>
                </a:solidFill>
              </a:rPr>
              <a:t>Policy Iterations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011680" cy="9601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2011680" cy="914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423160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36/36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4B8CB"/>
                </a:solidFill>
              </a:rPr>
              <a:t>All Screen Optimal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2011680" cy="9601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2011680" cy="914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617720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0" dirty="0">
                <a:solidFill>
                  <a:srgbClr val="F4B8CB"/>
                </a:solidFill>
              </a:rPr>
              <a:t>Consistency with USPSTF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12280" y="822960"/>
            <a:ext cx="2011680" cy="96012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812280" y="822960"/>
            <a:ext cx="2011680" cy="9144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812280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&lt;0.3s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4B8CB"/>
                </a:solidFill>
              </a:rPr>
              <a:t>Compute Time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28600" y="1920240"/>
            <a:ext cx="4983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228600" y="1920240"/>
            <a:ext cx="4983480" cy="320040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28600" y="1920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</a:rPr>
              <a:t>Q-value advantage: Screening vs. waiting (days)  Q-value Advantage of Screen (Days)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857307219"/>
              </p:ext>
            </p:extLst>
          </p:nvPr>
        </p:nvGraphicFramePr>
        <p:xfrm>
          <a:off x="279166" y="2284290"/>
          <a:ext cx="48463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394960" y="192024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8CB"/>
            </a:solidFill>
            <a:prstDash val="solid"/>
          </a:ln>
          <a:effectLst>
            <a:outerShdw blurRad="127000" dist="38100" dir="8100000" algn="bl" rotWithShape="0">
              <a:srgbClr val="8B1A4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7" name="Shape 24"/>
          <p:cNvSpPr/>
          <p:nvPr/>
        </p:nvSpPr>
        <p:spPr>
          <a:xfrm>
            <a:off x="5394960" y="1920240"/>
            <a:ext cx="3520440" cy="3200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5"/>
          <p:cNvSpPr/>
          <p:nvPr/>
        </p:nvSpPr>
        <p:spPr>
          <a:xfrm>
            <a:off x="539496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Compared with USPSTF 2024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0" y="2350008"/>
            <a:ext cx="3310128" cy="566928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7"/>
          <p:cNvSpPr/>
          <p:nvPr/>
        </p:nvSpPr>
        <p:spPr>
          <a:xfrm>
            <a:off x="5486400" y="2350008"/>
            <a:ext cx="91440" cy="566928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8"/>
          <p:cNvSpPr/>
          <p:nvPr/>
        </p:nvSpPr>
        <p:spPr>
          <a:xfrm>
            <a:off x="5641848" y="2386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2D1520"/>
                </a:solidFill>
              </a:rPr>
              <a:t>High risk</a:t>
            </a:r>
            <a:r>
              <a:rPr lang="en-US" altLang="zh-CN" sz="850" b="1" dirty="0">
                <a:solidFill>
                  <a:srgbClr val="2D1520"/>
                </a:solidFill>
              </a:rPr>
              <a:t>, </a:t>
            </a:r>
            <a:r>
              <a:rPr lang="en-US" sz="850" b="1" dirty="0">
                <a:solidFill>
                  <a:srgbClr val="2D1520"/>
                </a:solidFill>
              </a:rPr>
              <a:t>ages 30 and up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641848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5560"/>
                </a:solidFill>
              </a:rPr>
              <a:t>MDP: screen  |  USPSTF: screen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589520" y="2478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4A"/>
                </a:solidFill>
              </a:rPr>
              <a:t>✓ 31–80days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86400" y="3008376"/>
            <a:ext cx="3310128" cy="566928"/>
          </a:xfrm>
          <a:prstGeom prst="rect">
            <a:avLst/>
          </a:prstGeom>
          <a:solidFill>
            <a:srgbClr val="FDF0F4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2"/>
          <p:cNvSpPr/>
          <p:nvPr/>
        </p:nvSpPr>
        <p:spPr>
          <a:xfrm>
            <a:off x="5486400" y="3008376"/>
            <a:ext cx="91440" cy="566928"/>
          </a:xfrm>
          <a:prstGeom prst="rect">
            <a:avLst/>
          </a:prstGeom>
          <a:solidFill>
            <a:srgbClr val="C0396B"/>
          </a:solidFill>
          <a:ln w="12700">
            <a:solidFill>
              <a:srgbClr val="C0396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3"/>
          <p:cNvSpPr/>
          <p:nvPr/>
        </p:nvSpPr>
        <p:spPr>
          <a:xfrm>
            <a:off x="5641848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2D1520"/>
                </a:solidFill>
              </a:rPr>
              <a:t>Medium/low risk, ages 40 and up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641848" y="33009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5560"/>
                </a:solidFill>
              </a:rPr>
              <a:t>MDP: screen  |  USPSTF: screen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589520" y="31363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4A"/>
                </a:solidFill>
              </a:rPr>
              <a:t>✓ 3–8days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486400" y="3666744"/>
            <a:ext cx="3310128" cy="566928"/>
          </a:xfrm>
          <a:prstGeom prst="rect">
            <a:avLst/>
          </a:prstGeom>
          <a:solidFill>
            <a:srgbClr val="FFF0F5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7"/>
          <p:cNvSpPr/>
          <p:nvPr/>
        </p:nvSpPr>
        <p:spPr>
          <a:xfrm>
            <a:off x="5486400" y="3666744"/>
            <a:ext cx="91440" cy="56692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8"/>
          <p:cNvSpPr/>
          <p:nvPr/>
        </p:nvSpPr>
        <p:spPr>
          <a:xfrm>
            <a:off x="5641848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2D1520"/>
                </a:solidFill>
              </a:rPr>
              <a:t>Medium risk, ages 30-39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641848" y="3959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5560"/>
                </a:solidFill>
              </a:rPr>
              <a:t>MDP: screen |  USPSTF: wait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7589520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69A"/>
                </a:solidFill>
              </a:rPr>
              <a:t>✗ +1.8days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486400" y="4325112"/>
            <a:ext cx="3310128" cy="530352"/>
          </a:xfrm>
          <a:prstGeom prst="rect">
            <a:avLst/>
          </a:prstGeom>
          <a:solidFill>
            <a:srgbClr val="FFF0F5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2"/>
          <p:cNvSpPr/>
          <p:nvPr/>
        </p:nvSpPr>
        <p:spPr>
          <a:xfrm>
            <a:off x="5486400" y="4325112"/>
            <a:ext cx="91440" cy="56692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3"/>
          <p:cNvSpPr/>
          <p:nvPr/>
        </p:nvSpPr>
        <p:spPr>
          <a:xfrm>
            <a:off x="5641848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2D1520"/>
                </a:solidFill>
              </a:rPr>
              <a:t>Low risk, ages 30-39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641848" y="4617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5560"/>
                </a:solidFill>
              </a:rPr>
              <a:t>MDP: 筛查  |  USPSTF: 等待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7589520" y="4453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69A"/>
                </a:solidFill>
              </a:rPr>
              <a:t>✗ +0.5 days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394960" y="4681728"/>
            <a:ext cx="3520440" cy="228600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7"/>
          <p:cNvSpPr/>
          <p:nvPr/>
        </p:nvSpPr>
        <p:spPr>
          <a:xfrm>
            <a:off x="5344394" y="4613148"/>
            <a:ext cx="3520440" cy="34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Both inconsistencies are at the boundary (&lt;2 days), and will become completely consistent after adding currency costs.</a:t>
            </a:r>
            <a:endParaRPr lang="en-US" sz="7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E4874E-2778-F0A5-592C-DCDBF9B88A67}"/>
              </a:ext>
            </a:extLst>
          </p:cNvPr>
          <p:cNvSpPr txBox="1"/>
          <p:nvPr/>
        </p:nvSpPr>
        <p:spPr>
          <a:xfrm>
            <a:off x="1240311" y="4197096"/>
            <a:ext cx="50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900" dirty="0"/>
              <a:t>High</a:t>
            </a:r>
            <a:br>
              <a:rPr lang="en-CN" sz="1800" kern="1200" dirty="0"/>
            </a:br>
            <a:r>
              <a:rPr lang="en-CN" sz="900" dirty="0"/>
              <a:t>40-49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B79860-A935-7715-AA9D-1ED5ACCACA7B}"/>
              </a:ext>
            </a:extLst>
          </p:cNvPr>
          <p:cNvSpPr txBox="1"/>
          <p:nvPr/>
        </p:nvSpPr>
        <p:spPr>
          <a:xfrm>
            <a:off x="1740633" y="4202296"/>
            <a:ext cx="476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900" dirty="0"/>
              <a:t>High</a:t>
            </a:r>
            <a:br>
              <a:rPr lang="en-CN" sz="4400" kern="1200" dirty="0"/>
            </a:br>
            <a:r>
              <a:rPr lang="en-CN" sz="900" dirty="0"/>
              <a:t>50-59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0745A-BF55-2820-BE35-7179857854BC}"/>
              </a:ext>
            </a:extLst>
          </p:cNvPr>
          <p:cNvSpPr txBox="1"/>
          <p:nvPr/>
        </p:nvSpPr>
        <p:spPr>
          <a:xfrm>
            <a:off x="2340590" y="4191149"/>
            <a:ext cx="448056" cy="37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900" dirty="0"/>
              <a:t>High</a:t>
            </a:r>
            <a:br>
              <a:rPr lang="en-CN" sz="900" dirty="0"/>
            </a:br>
            <a:r>
              <a:rPr lang="en-CN" sz="900" dirty="0"/>
              <a:t>60+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2BF6EC-8DA6-584D-9A0A-BBB1F0CD15AB}"/>
              </a:ext>
            </a:extLst>
          </p:cNvPr>
          <p:cNvSpPr txBox="1"/>
          <p:nvPr/>
        </p:nvSpPr>
        <p:spPr>
          <a:xfrm>
            <a:off x="3421208" y="4200138"/>
            <a:ext cx="647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00" dirty="0"/>
              <a:t>Medium</a:t>
            </a:r>
            <a:br>
              <a:rPr lang="en-CN" sz="900" dirty="0"/>
            </a:br>
            <a:r>
              <a:rPr lang="en-CN" sz="900" dirty="0"/>
              <a:t>40-49</a:t>
            </a:r>
          </a:p>
          <a:p>
            <a:endParaRPr lang="en-C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857157-471D-34D7-C95C-ACA40602C8DB}"/>
              </a:ext>
            </a:extLst>
          </p:cNvPr>
          <p:cNvSpPr txBox="1"/>
          <p:nvPr/>
        </p:nvSpPr>
        <p:spPr>
          <a:xfrm>
            <a:off x="4026578" y="419114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dirty="0"/>
              <a:t>Low</a:t>
            </a:r>
            <a:br>
              <a:rPr lang="en-CN" sz="900" dirty="0"/>
            </a:br>
            <a:r>
              <a:rPr lang="en-CN" sz="900" dirty="0"/>
              <a:t>30-39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68ACCA-14E4-C409-3915-F090CA862E8E}"/>
              </a:ext>
            </a:extLst>
          </p:cNvPr>
          <p:cNvSpPr txBox="1"/>
          <p:nvPr/>
        </p:nvSpPr>
        <p:spPr>
          <a:xfrm>
            <a:off x="4580549" y="4181931"/>
            <a:ext cx="448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00" dirty="0"/>
              <a:t>Low</a:t>
            </a:r>
            <a:br>
              <a:rPr lang="en-CN" sz="900" dirty="0"/>
            </a:br>
            <a:r>
              <a:rPr lang="en-CN" sz="900" dirty="0"/>
              <a:t>40-49</a:t>
            </a:r>
          </a:p>
          <a:p>
            <a:endParaRPr lang="en-CN" dirty="0"/>
          </a:p>
          <a:p>
            <a:endParaRPr lang="en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C0396B">
              <a:alpha val="25000"/>
            </a:srgbClr>
          </a:solidFill>
          <a:ln w="12700">
            <a:solidFill>
              <a:srgbClr val="C039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E8769A">
              <a:alpha val="20000"/>
            </a:srgbClr>
          </a:solidFill>
          <a:ln w="12700">
            <a:solidFill>
              <a:srgbClr val="E876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8229600" y="164592"/>
            <a:ext cx="457200" cy="658368"/>
          </a:xfrm>
          <a:prstGeom prst="ellipse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8503920" y="164592"/>
            <a:ext cx="457200" cy="658368"/>
          </a:xfrm>
          <a:prstGeom prst="ellipse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8348472" y="640080"/>
            <a:ext cx="137160" cy="475488"/>
          </a:xfrm>
          <a:prstGeom prst="rect">
            <a:avLst/>
          </a:prstGeom>
          <a:solidFill>
            <a:srgbClr val="F4B8CB"/>
          </a:solidFill>
          <a:ln w="12700">
            <a:solidFill>
              <a:srgbClr val="F4B8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F4B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225296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457200" y="12252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86384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SEER Cancer Statistics 2018-2022. NCI. seer.cancer.gov/statistics-network/explorer/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86384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USPSTF (2024). Screening for Breast Cancer. JAMA 2024;331(22):1918-1930.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1792224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57200" y="17922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86384" y="1755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Antoniou A et al. (2003). BRCA1/BRCA2 Risks. Am J Hum Genet. PMC1180265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075688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457200" y="20756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86384" y="2039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Brewer HR et al. (2017). Family history and breast cancer risk. Breast Cancer Res Treat. PMC5511313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59152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457200" y="23591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86384" y="2322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Devolli-Disha E et al. (2009). Accuracy of mammography and ultrasound. Bosn J. PMC5638217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642616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457200" y="2642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86384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Kerlikowske K et al. (1996). Age, density, sensitivity of mammography. JAMA. PubMed 8667536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7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86384" y="2889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Wu SG et al. (2022). Natural history of untreated breast cancer. Ann Transl Med. PMC9011255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73168" y="1225296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773168" y="12252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8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02352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Marcadis AR et al. (2022). Relative Survival Early-Stage Breast Cancer. Mayo Clin Proc. PMC10314986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73168" y="1508760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4773168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9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02352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Pedersen RN et al. (2021). Breast Cancer Recurrence 10-32 Years. JNCI. PMC8902439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73168" y="1792224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4773168" y="17922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02352" y="1755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Kaur MN et al. (2022). Health Utility Values in Breast Cancer — 69 studies. Med Decis Making. PMC9189726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73168" y="2075688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4773168" y="20756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02352" y="2039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Mittmann N et al. (2015). Cost-effectiveness of mammography (CISNET). Health Reports. PMC4894487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73168" y="2359152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4773168" y="23591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02352" y="2322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Sanders GD et al. (2016). Recommendations for Cost-effectiveness Analyses. JAMA.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73168" y="2642616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773168" y="2642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02352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US SSA (2022). Actuarial Life Table 2022 (Female). ssa.gov/oact/STATS/table4c6.html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73168" y="2926080"/>
            <a:ext cx="256032" cy="201168"/>
          </a:xfrm>
          <a:prstGeom prst="rect">
            <a:avLst/>
          </a:prstGeom>
          <a:solidFill>
            <a:srgbClr val="E8769A"/>
          </a:solidFill>
          <a:ln w="12700">
            <a:solidFill>
              <a:srgbClr val="E876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4773168" y="2926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4A"/>
                </a:solidFill>
              </a:rPr>
              <a:t>14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02352" y="2889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B8CB"/>
                </a:solidFill>
              </a:rPr>
              <a:t>Sutton RS &amp; Barto AG (2018). Reinforcement Learning: An Introduction. MIT Press.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1035</Words>
  <Application>Microsoft Macintosh PowerPoint</Application>
  <PresentationFormat>On-screen Show (16:9)</PresentationFormat>
  <Paragraphs>235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Screening Optimization using MDP</dc:title>
  <dc:subject>PptxGenJS Presentation</dc:subject>
  <dc:creator>PptxGenJS</dc:creator>
  <cp:lastModifiedBy>Qi Chen</cp:lastModifiedBy>
  <cp:revision>54</cp:revision>
  <dcterms:created xsi:type="dcterms:W3CDTF">2026-03-03T00:45:15Z</dcterms:created>
  <dcterms:modified xsi:type="dcterms:W3CDTF">2026-03-03T05:11:43Z</dcterms:modified>
</cp:coreProperties>
</file>